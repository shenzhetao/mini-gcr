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9.svg" ContentType="image/svg+xml"/>
  <Override PartName="/ppt/media/image62.svg" ContentType="image/svg+xml"/>
  <Override PartName="/ppt/media/image64.svg" ContentType="image/svg+xml"/>
  <Override PartName="/ppt/media/image66.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50" r:id="rId3"/>
    <p:sldMasterId id="2147483652" r:id="rId4"/>
  </p:sldMasterIdLst>
  <p:notesMasterIdLst>
    <p:notesMasterId r:id="rId6"/>
  </p:notesMasterIdLst>
  <p:sldIdLst>
    <p:sldId id="256" r:id="rId5"/>
    <p:sldId id="257" r:id="rId7"/>
    <p:sldId id="258" r:id="rId8"/>
    <p:sldId id="259" r:id="rId9"/>
    <p:sldId id="260" r:id="rId10"/>
    <p:sldId id="261" r:id="rId11"/>
    <p:sldId id="262" r:id="rId12"/>
    <p:sldId id="263" r:id="rId13"/>
    <p:sldId id="264" r:id="rId14"/>
    <p:sldId id="265" r:id="rId15"/>
    <p:sldId id="271" r:id="rId16"/>
    <p:sldId id="272" r:id="rId17"/>
    <p:sldId id="266" r:id="rId18"/>
  </p:sldIdLst>
  <p:sldSz cx="12192000" cy="6858000"/>
  <p:notesSz cx="6858000" cy="9144000"/>
  <p:custDataLst>
    <p:tags r:id="rId2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2" Type="http://schemas.openxmlformats.org/officeDocument/2006/relationships/tags" Target="tags/tag2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向大家汇报我的研究项目——“基于生成式推荐的支付界面与购物车互补品推荐算法研究”。在电商领域，支付环节是提升用户体验和商业价值的关键节点。传统推荐方法在此场景下往往效果不佳。因此，我们引入了生成式AI的理念，旨在解决这一痛点。接下来，我将详细介绍我们的研究背景、方法和预期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首先，我们来看一下研究背景。支付和购物车页面是电商平台中一个非常特殊的场景。用户在这里已经做出了购买决策，意图非常明确，是进行交叉销售、提升客单价的黄金机会。</a:t>
            </a:r>
            <a:endParaRPr lang="en-US" sz="1400" b="0" i="0" u="none" strike="noStrike">
              <a:solidFill>
                <a:srgbClr val="000000"/>
              </a:solidFill>
            </a:endParaRPr>
          </a:p>
          <a:p>
            <a:pPr indent="0" algn="l">
              <a:lnSpc>
                <a:spcPct val="100000"/>
              </a:lnSpc>
            </a:pPr>
            <a:r>
              <a:rPr lang="en-US" sz="1400" b="0" i="0" u="none" strike="noStrike">
                <a:solidFill>
                  <a:srgbClr val="000000"/>
                </a:solidFill>
              </a:rPr>
              <a:t>然而，传统的推荐系统，如协同过滤或深度学习模型，在这个场景下却常常失效。它们的核心逻辑是基于用户历史行为进行“判别式匹配”，这导致它们无法真正理解当前购物车中商品组合的深层含义，推荐的商品往往与用户当下的需求脱节。</a:t>
            </a:r>
            <a:endParaRPr lang="en-US" sz="1400" b="0" i="0" u="none" strike="noStrike">
              <a:solidFill>
                <a:srgbClr val="000000"/>
              </a:solidFill>
            </a:endParaRPr>
          </a:p>
          <a:p>
            <a:pPr indent="0" algn="l">
              <a:lnSpc>
                <a:spcPct val="100000"/>
              </a:lnSpc>
            </a:pPr>
            <a:r>
              <a:rPr lang="en-US" sz="1400" b="0" i="0" u="none" strike="noStrike">
                <a:solidFill>
                  <a:srgbClr val="000000"/>
                </a:solidFill>
              </a:rPr>
              <a:t>此外，它们对互补品的挖掘依赖于简单的共现统计，难以发现新颖的搭配，并且在可解释性方面表现不佳。这些痛点正是我们研究的出发点。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探讨我们的生成式方法之前，我们先回顾两种最基础的推荐技术。首先是针对冷启动场景的基于内容的推荐。当面对新用户或新商品时，我们没有历史行为数据，只能依赖商品本身的内容。经典方法包括标签匹配和TF-IDF文本匹配。简单来说，就是找到和用户过去喜欢的商品在内容上相似的商品。值得一提的是，现在我们可以用更先进的预训练语言模型来替代传统的TF-IDF，以获得更好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种基础方法是协同过滤，它的核心思想是“物以类聚，人以群分”。它完全不关心商品本身是什么，只看用户的行为。经典的模型如SVD，会把用户和商品都投射到一个隐向量空间，通过向量的相似度来做推荐。这种方法的一个现代升级方向是使用图神经网络，它能更好地捕捉用户和商品之间复杂的关联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痛点，我们明确了核心问题：如何在支付场景下进行精准的互补品推荐。我们的系统需要理解购物车上下文，直接生成互补商品，并提供可解释的理由。与传统的判别式模型相比，我们的生成式方法从根本上不同，它不是在排序，而是在创造，能够挖掘更深层次的互补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架构分为离线和在线两部分。离线模块负责模型训练和数据准备，在线模块负责实时推理。整个技术方案遵循五个阶段的闭环流程：从离线准备开始，到模型训练，再到可解释模块构建，然后是在线推理，最后通过评估优化来持续迭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评估体系结合了离线和在线指标，并通过严格的A/B测试来验证效果。预期成果包括一套完整的算法、一个高性能模型和一份技术报告。项目的核心创新体现在范式、模型、可解释性和应用四个层面，旨在解决实际问题并创造商业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数据是模型的基石。我们的研究将使用多种来源的数据，包括用户行为日志、商品元数据、图像和文本描述。这些数据将用于构建用户行为序列、提取商品特征，并支持多模态融合。</a:t>
            </a:r>
            <a:endParaRPr lang="en-US" sz="1400" b="0" i="0" u="none" strike="noStrike">
              <a:solidFill>
                <a:srgbClr val="000000"/>
              </a:solidFill>
            </a:endParaRPr>
          </a:p>
          <a:p>
            <a:pPr indent="0" algn="l">
              <a:lnSpc>
                <a:spcPct val="100000"/>
              </a:lnSpc>
            </a:pPr>
            <a:r>
              <a:rPr lang="en-US" sz="1400" b="0" i="0" u="none" strike="noStrike">
                <a:solidFill>
                  <a:srgbClr val="000000"/>
                </a:solidFill>
              </a:rPr>
              <a:t>为了构建模型的训练数据，我们设计了一套互补品标注流程。通过筛选订单、使用滑动窗口构建序列并进行负采样，我们可以获得大量的训练样本。这套方案确保了我们的数据能够真实反映用户的购买行为和商品间的互补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为期六周的项目计划。第一周主要进行数据准备工作。第二和第三周将集中精力实现和训练核心的minGPT模型。第四和第五周用于开发增强模块和可解释模块，并完成离线评估。最后一周，我们将进行在线A/B测试，并完成报告撰写和答辩准备。整个计划节奏紧凑，目标明确，确保项目能够按时高质量完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对项目的可行性进行了全面分析。数据方面，公开数据集和电商平台的海量数据为我们提供了坚实基础。技术方面，相关技术已非常成熟，有大量开源资源可供参考。业务方面，提升客单价是平台的核心诉求，项目价值明确。同时，我们也识别了潜在风险，如数据稀疏性、模型复杂度和效果不确定性，并制定了相应的应对策略，如利用GNN缓解冷启动、采用模型蒸馏降低成本、以及通过严格的A/B测试确保线上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对项目的可行性进行了全面分析。数据方面，公开数据集和电商平台的海量数据为我们提供了坚实基础。技术方面，相关技术已非常成熟，有大量开源资源可供参考。业务方面，提升客单价是平台的核心诉求，项目价值明确。同时，我们也识别了潜在风险，如数据稀疏性、模型复杂度和效果不确定性，并制定了相应的应对策略，如利用GNN缓解冷启动、采用模型蒸馏降低成本、以及通过严格的A/B测试确保线上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对项目的可行性进行了全面分析。数据方面，公开数据集和电商平台的海量数据为我们提供了坚实基础。技术方面，相关技术已非常成熟，有大量开源资源可供参考。业务方面，提升客单价是平台的核心诉求，项目价值明确。同时，我们也识别了潜在风险，如数据稀疏性、模型复杂度和效果不确定性，并制定了相应的应对策略，如利用GNN缓解冷启动、采用模型蒸馏降低成本、以及通过严格的A/B测试确保线上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最后，总结一下，本项目通过引入生成式推荐范式，成功解决了支付场景下传统推荐方法的瓶颈，实现了用户体验与商业价值的双重提升。我的汇报到此结束，感谢各位的聆听，欢迎提问。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0" Type="http://schemas.openxmlformats.org/officeDocument/2006/relationships/notesSlide" Target="../notesSlides/notesSlide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0" Type="http://schemas.openxmlformats.org/officeDocument/2006/relationships/notesSlide" Target="../notesSlides/notesSlide3.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tags" Target="../tags/tag4.xml"/><Relationship Id="rId3" Type="http://schemas.openxmlformats.org/officeDocument/2006/relationships/tags" Target="../tags/tag3.xml"/><Relationship Id="rId29" Type="http://schemas.openxmlformats.org/officeDocument/2006/relationships/notesSlide" Target="../notesSlides/notesSlide4.xml"/><Relationship Id="rId28" Type="http://schemas.openxmlformats.org/officeDocument/2006/relationships/slideLayout" Target="../slideLayouts/slideLayout1.xml"/><Relationship Id="rId27" Type="http://schemas.openxmlformats.org/officeDocument/2006/relationships/tags" Target="../tags/tag21.xml"/><Relationship Id="rId26" Type="http://schemas.openxmlformats.org/officeDocument/2006/relationships/tags" Target="../tags/tag20.xml"/><Relationship Id="rId25" Type="http://schemas.openxmlformats.org/officeDocument/2006/relationships/tags" Target="../tags/tag19.xml"/><Relationship Id="rId24" Type="http://schemas.openxmlformats.org/officeDocument/2006/relationships/image" Target="../media/image22.svg"/><Relationship Id="rId23" Type="http://schemas.openxmlformats.org/officeDocument/2006/relationships/image" Target="../media/image21.png"/><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tags" Target="../tags/tag2.xml"/><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image" Target="../media/image20.svg"/><Relationship Id="rId14" Type="http://schemas.openxmlformats.org/officeDocument/2006/relationships/image" Target="../media/image19.png"/><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svg"/><Relationship Id="rId7" Type="http://schemas.openxmlformats.org/officeDocument/2006/relationships/image" Target="../media/image35.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svg"/><Relationship Id="rId14" Type="http://schemas.openxmlformats.org/officeDocument/2006/relationships/notesSlide" Target="../notesSlides/notesSlide6.xml"/><Relationship Id="rId13" Type="http://schemas.openxmlformats.org/officeDocument/2006/relationships/slideLayout" Target="../slideLayouts/slideLayout1.xml"/><Relationship Id="rId12" Type="http://schemas.openxmlformats.org/officeDocument/2006/relationships/image" Target="../media/image40.svg"/><Relationship Id="rId11" Type="http://schemas.openxmlformats.org/officeDocument/2006/relationships/image" Target="../media/image39.png"/><Relationship Id="rId10" Type="http://schemas.openxmlformats.org/officeDocument/2006/relationships/image" Target="../media/image38.svg"/><Relationship Id="rId1" Type="http://schemas.openxmlformats.org/officeDocument/2006/relationships/image" Target="../media/image29.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11.svg"/><Relationship Id="rId5" Type="http://schemas.openxmlformats.org/officeDocument/2006/relationships/image" Target="../media/image44.png"/><Relationship Id="rId4" Type="http://schemas.openxmlformats.org/officeDocument/2006/relationships/image" Target="../media/image22.svg"/><Relationship Id="rId3" Type="http://schemas.openxmlformats.org/officeDocument/2006/relationships/image" Target="../media/image43.png"/><Relationship Id="rId2" Type="http://schemas.openxmlformats.org/officeDocument/2006/relationships/image" Target="../media/image42.svg"/><Relationship Id="rId10" Type="http://schemas.openxmlformats.org/officeDocument/2006/relationships/notesSlide" Target="../notesSlides/notesSlide7.xml"/><Relationship Id="rId1" Type="http://schemas.openxmlformats.org/officeDocument/2006/relationships/image" Target="../media/image41.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54.svg"/><Relationship Id="rId7" Type="http://schemas.openxmlformats.org/officeDocument/2006/relationships/image" Target="../media/image53.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0" Type="http://schemas.openxmlformats.org/officeDocument/2006/relationships/notesSlide" Target="../notesSlides/notesSlide8.xml"/><Relationship Id="rId1" Type="http://schemas.openxmlformats.org/officeDocument/2006/relationships/image" Target="../media/image47.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svg"/><Relationship Id="rId7" Type="http://schemas.openxmlformats.org/officeDocument/2006/relationships/image" Target="../media/image60.png"/><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16.svg"/><Relationship Id="rId3" Type="http://schemas.openxmlformats.org/officeDocument/2006/relationships/image" Target="../media/image57.png"/><Relationship Id="rId2" Type="http://schemas.openxmlformats.org/officeDocument/2006/relationships/image" Target="../media/image56.svg"/><Relationship Id="rId10" Type="http://schemas.openxmlformats.org/officeDocument/2006/relationships/notesSlide" Target="../notesSlides/notesSlide9.xml"/><Relationship Id="rId1" Type="http://schemas.openxmlformats.org/officeDocument/2006/relationships/image" Target="../media/image55.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image" Target="../media/image6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基于生成式推荐的支付界面</a:t>
            </a:r>
            <a:b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与购物车互补品推荐算法研究</a:t>
            </a:r>
            <a:endParaRPr lang="en-US" sz="1100"/>
          </a:p>
        </p:txBody>
      </p:sp>
      <p:sp>
        <p:nvSpPr>
          <p:cNvPr id="4" name="AutoShape 4"/>
          <p:cNvSpPr/>
          <p:nvPr/>
        </p:nvSpPr>
        <p:spPr>
          <a:xfrm>
            <a:off x="5461000" y="3810000"/>
            <a:ext cx="1270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19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沈浙涛</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黄林</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吴瑞欣</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刘水霞</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李珊</a:t>
            </a:r>
            <a:endParaRPr lang="en-US" sz="1100"/>
          </a:p>
        </p:txBody>
      </p:sp>
      <p:sp>
        <p:nvSpPr>
          <p:cNvPr id="6" name="AutoShape 6"/>
          <p:cNvSpPr/>
          <p:nvPr/>
        </p:nvSpPr>
        <p:spPr>
          <a:xfrm>
            <a:off x="0" y="495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背景与痛点</a:t>
            </a:r>
            <a:endParaRPr lang="en-US" sz="1100"/>
          </a:p>
        </p:txBody>
      </p:sp>
      <p:sp>
        <p:nvSpPr>
          <p:cNvPr id="3" name="AutoShape 3"/>
          <p:cNvSpPr/>
          <p:nvPr/>
        </p:nvSpPr>
        <p:spPr>
          <a:xfrm>
            <a:off x="762000" y="14605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支付/购物车场景的核心特性</a:t>
            </a:r>
            <a:endParaRPr lang="en-US" sz="1100"/>
          </a:p>
        </p:txBody>
      </p:sp>
      <p:sp>
        <p:nvSpPr>
          <p:cNvPr id="4" name="AutoShape 4"/>
          <p:cNvSpPr/>
          <p:nvPr/>
        </p:nvSpPr>
        <p:spPr>
          <a:xfrm>
            <a:off x="7620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159000"/>
            <a:ext cx="406400" cy="406400"/>
          </a:xfrm>
          <a:prstGeom prst="rect">
            <a:avLst/>
          </a:prstGeom>
        </p:spPr>
      </p:pic>
      <p:sp>
        <p:nvSpPr>
          <p:cNvPr id="6" name="AutoShape 6"/>
          <p:cNvSpPr/>
          <p:nvPr/>
        </p:nvSpPr>
        <p:spPr>
          <a:xfrm>
            <a:off x="15240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高决策权重</a:t>
            </a:r>
            <a:endParaRPr lang="en-US" sz="1100"/>
          </a:p>
        </p:txBody>
      </p:sp>
      <p:sp>
        <p:nvSpPr>
          <p:cNvPr id="7" name="AutoShape 7"/>
          <p:cNvSpPr/>
          <p:nvPr/>
        </p:nvSpPr>
        <p:spPr>
          <a:xfrm>
            <a:off x="9525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用户购买意图明确，是交叉销售和提升客单价的黄金转化节点。</a:t>
            </a:r>
            <a:endParaRPr lang="en-US" sz="1100"/>
          </a:p>
        </p:txBody>
      </p:sp>
      <p:sp>
        <p:nvSpPr>
          <p:cNvPr id="8" name="AutoShape 8"/>
          <p:cNvSpPr/>
          <p:nvPr/>
        </p:nvSpPr>
        <p:spPr>
          <a:xfrm>
            <a:off x="34925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3000" y="2159000"/>
            <a:ext cx="406400" cy="406400"/>
          </a:xfrm>
          <a:prstGeom prst="rect">
            <a:avLst/>
          </a:prstGeom>
        </p:spPr>
      </p:pic>
      <p:sp>
        <p:nvSpPr>
          <p:cNvPr id="10" name="AutoShape 10"/>
          <p:cNvSpPr/>
          <p:nvPr/>
        </p:nvSpPr>
        <p:spPr>
          <a:xfrm>
            <a:off x="42545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场景信息丰富</a:t>
            </a:r>
            <a:endParaRPr lang="en-US" sz="1100"/>
          </a:p>
        </p:txBody>
      </p:sp>
      <p:sp>
        <p:nvSpPr>
          <p:cNvPr id="11" name="AutoShape 11"/>
          <p:cNvSpPr/>
          <p:nvPr/>
        </p:nvSpPr>
        <p:spPr>
          <a:xfrm>
            <a:off x="36830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购物车中的商品组合直接表达了用户当下的具体需求与偏好。</a:t>
            </a:r>
            <a:endParaRPr lang="en-US" sz="1100"/>
          </a:p>
        </p:txBody>
      </p:sp>
      <p:sp>
        <p:nvSpPr>
          <p:cNvPr id="12" name="AutoShape 12"/>
          <p:cNvSpPr/>
          <p:nvPr/>
        </p:nvSpPr>
        <p:spPr>
          <a:xfrm>
            <a:off x="62230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159000"/>
            <a:ext cx="406400" cy="406400"/>
          </a:xfrm>
          <a:prstGeom prst="rect">
            <a:avLst/>
          </a:prstGeom>
        </p:spPr>
      </p:pic>
      <p:sp>
        <p:nvSpPr>
          <p:cNvPr id="14" name="AutoShape 14"/>
          <p:cNvSpPr/>
          <p:nvPr/>
        </p:nvSpPr>
        <p:spPr>
          <a:xfrm>
            <a:off x="69850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实时性要求高</a:t>
            </a:r>
            <a:endParaRPr lang="en-US" sz="1100"/>
          </a:p>
        </p:txBody>
      </p:sp>
      <p:sp>
        <p:nvSpPr>
          <p:cNvPr id="15" name="AutoShape 15"/>
          <p:cNvSpPr/>
          <p:nvPr/>
        </p:nvSpPr>
        <p:spPr>
          <a:xfrm>
            <a:off x="64135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用户决策窗口期极短，推荐系统需具备低延迟响应与精准匹配能力。</a:t>
            </a:r>
            <a:endParaRPr lang="en-US" sz="1100"/>
          </a:p>
        </p:txBody>
      </p:sp>
      <p:sp>
        <p:nvSpPr>
          <p:cNvPr id="16" name="AutoShape 16"/>
          <p:cNvSpPr/>
          <p:nvPr/>
        </p:nvSpPr>
        <p:spPr>
          <a:xfrm>
            <a:off x="89535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44000" y="2159000"/>
            <a:ext cx="406400" cy="406400"/>
          </a:xfrm>
          <a:prstGeom prst="rect">
            <a:avLst/>
          </a:prstGeom>
        </p:spPr>
      </p:pic>
      <p:sp>
        <p:nvSpPr>
          <p:cNvPr id="18" name="AutoShape 18"/>
          <p:cNvSpPr/>
          <p:nvPr/>
        </p:nvSpPr>
        <p:spPr>
          <a:xfrm>
            <a:off x="97155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目标高度明确</a:t>
            </a:r>
            <a:endParaRPr lang="en-US" sz="1100"/>
          </a:p>
        </p:txBody>
      </p:sp>
      <p:sp>
        <p:nvSpPr>
          <p:cNvPr id="19" name="AutoShape 19"/>
          <p:cNvSpPr/>
          <p:nvPr/>
        </p:nvSpPr>
        <p:spPr>
          <a:xfrm>
            <a:off x="91440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核心目标是推荐高度互补的商品，而非泛泛的兴趣类关联推荐。</a:t>
            </a:r>
            <a:endParaRPr lang="en-US" sz="1100"/>
          </a:p>
        </p:txBody>
      </p:sp>
      <p:sp>
        <p:nvSpPr>
          <p:cNvPr id="20" name="AutoShape 20"/>
          <p:cNvSpPr/>
          <p:nvPr/>
        </p:nvSpPr>
        <p:spPr>
          <a:xfrm>
            <a:off x="762000" y="3937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02. 传统“判别式匹配”模型的局限性与痛点</a:t>
            </a:r>
            <a:endParaRPr lang="en-US" sz="1100"/>
          </a:p>
        </p:txBody>
      </p:sp>
      <p:sp>
        <p:nvSpPr>
          <p:cNvPr id="21" name="AutoShape 21"/>
          <p:cNvSpPr/>
          <p:nvPr/>
        </p:nvSpPr>
        <p:spPr>
          <a:xfrm>
            <a:off x="7620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890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525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逻辑脱节：不懂“组合语义”</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8890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传统模型仅预测“用户-商品”匹配分，无法理解购物车中多商品组合的深层需求，推荐结果与场景严重脱节。</a:t>
            </a:r>
            <a:endParaRPr lang="en-US" sz="1100"/>
          </a:p>
        </p:txBody>
      </p:sp>
      <p:sp>
        <p:nvSpPr>
          <p:cNvPr id="25" name="AutoShape 25"/>
          <p:cNvSpPr/>
          <p:nvPr/>
        </p:nvSpPr>
        <p:spPr>
          <a:xfrm>
            <a:off x="34925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36195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36830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挖掘乏力：依赖“死板共现”</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36195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过度依赖历史共现统计，模式固定僵化。对“西装+领带”等强关联有效，但难以发现“运动鞋+手表”等新颖弱关联。</a:t>
            </a:r>
            <a:endParaRPr lang="en-US" sz="1100"/>
          </a:p>
        </p:txBody>
      </p:sp>
      <p:sp>
        <p:nvSpPr>
          <p:cNvPr id="29" name="AutoShape 29"/>
          <p:cNvSpPr/>
          <p:nvPr/>
        </p:nvSpPr>
        <p:spPr>
          <a:xfrm>
            <a:off x="62230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3500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4135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长尾缺位：热门商品霸屏</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63500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严重依赖商品流行度排序，导致热门商品重复推荐。推荐结果同质化严重，无法满足用户对个性化与惊喜感的需求。</a:t>
            </a:r>
            <a:endParaRPr lang="en-US" sz="1100"/>
          </a:p>
        </p:txBody>
      </p:sp>
      <p:sp>
        <p:nvSpPr>
          <p:cNvPr id="33" name="AutoShape 33"/>
          <p:cNvSpPr/>
          <p:nvPr/>
        </p:nvSpPr>
        <p:spPr>
          <a:xfrm>
            <a:off x="89535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90805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91440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信任缺失：理由模糊不清</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6"/>
          <p:cNvSpPr/>
          <p:nvPr/>
        </p:nvSpPr>
        <p:spPr>
          <a:xfrm>
            <a:off x="90805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推荐理由通常是模糊的“购买了XX的用户也买了YY”。在高决策场景下，缺乏逻辑支撑的理由难以建立用户信任。</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基础推荐方法: 冷启动场景</a:t>
            </a:r>
            <a:endParaRPr lang="en-US" sz="1100"/>
          </a:p>
        </p:txBody>
      </p:sp>
      <p:sp>
        <p:nvSpPr>
          <p:cNvPr id="3" name="AutoShape 3"/>
          <p:cNvSpPr/>
          <p:nvPr/>
        </p:nvSpPr>
        <p:spPr>
          <a:xfrm>
            <a:off x="762000" y="1397000"/>
            <a:ext cx="10668000" cy="1143000"/>
          </a:xfrm>
          <a:prstGeom prst="roundRect">
            <a:avLst>
              <a:gd name="adj" fmla="val 13333"/>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778000" y="1587500"/>
            <a:ext cx="927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核心思想：基于内容的推荐 (Content-Based Filtering)</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778000" y="2032000"/>
            <a:ext cx="9271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当用户或商品是全新的、缺乏历史交互行为数据时，推荐系统无法依赖协同过滤，转而利用商品本身的固有属性（如标签、文本描述）进行内容层面的相似性匹配。</a:t>
            </a:r>
            <a:endParaRPr lang="en-US" sz="1100"/>
          </a:p>
        </p:txBody>
      </p:sp>
      <p:sp>
        <p:nvSpPr>
          <p:cNvPr id="7" name="AutoShape 7"/>
          <p:cNvSpPr/>
          <p:nvPr/>
        </p:nvSpPr>
        <p:spPr>
          <a:xfrm>
            <a:off x="762000" y="2794000"/>
            <a:ext cx="5207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609600" cy="609600"/>
          </a:xfrm>
          <a:prstGeom prst="rect">
            <a:avLst/>
          </a:prstGeom>
        </p:spPr>
      </p:pic>
      <p:sp>
        <p:nvSpPr>
          <p:cNvPr id="9" name="AutoShape 9"/>
          <p:cNvSpPr/>
          <p:nvPr/>
        </p:nvSpPr>
        <p:spPr>
          <a:xfrm>
            <a:off x="1905000" y="30480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经典实现 I：标签匹配</a:t>
            </a:r>
            <a:endPar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905000" y="3556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商品打标：</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人工或自动提取关键词（如“智能手机”、“防水”）。</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用户画像：</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聚合用户历史偏好的标签集合。</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推荐逻辑：</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计算用户画像与候选商品标签的重合度。</a:t>
            </a:r>
            <a:endParaRPr lang="en-US" sz="1100"/>
          </a:p>
        </p:txBody>
      </p:sp>
      <p:sp>
        <p:nvSpPr>
          <p:cNvPr id="11" name="AutoShape 11"/>
          <p:cNvSpPr/>
          <p:nvPr/>
        </p:nvSpPr>
        <p:spPr>
          <a:xfrm>
            <a:off x="6223000" y="2794000"/>
            <a:ext cx="5207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048000"/>
            <a:ext cx="609600" cy="609600"/>
          </a:xfrm>
          <a:prstGeom prst="rect">
            <a:avLst/>
          </a:prstGeom>
        </p:spPr>
      </p:pic>
      <p:sp>
        <p:nvSpPr>
          <p:cNvPr id="13" name="AutoShape 13"/>
          <p:cNvSpPr/>
          <p:nvPr/>
        </p:nvSpPr>
        <p:spPr>
          <a:xfrm>
            <a:off x="7366000" y="30480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经典实现 II：TF-IDF 文本匹配</a:t>
            </a:r>
            <a:endPar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7366000" y="3556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文本向量化：</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提取标题/描述，用TF-IDF转化为特征向量。</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偏好建模：</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聚合用户历史文本特征，形成用户偏好向量。</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相似度计算：</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计算向量间余弦相似度，筛选Top-N商品。</a:t>
            </a:r>
            <a:endParaRPr lang="en-US" sz="1100"/>
          </a:p>
        </p:txBody>
      </p:sp>
      <p:sp>
        <p:nvSpPr>
          <p:cNvPr id="15" name="AutoShape 15"/>
          <p:cNvSpPr/>
          <p:nvPr/>
        </p:nvSpPr>
        <p:spPr>
          <a:xfrm>
            <a:off x="762000" y="4953000"/>
            <a:ext cx="10668000" cy="1143000"/>
          </a:xfrm>
          <a:prstGeom prst="roundRect">
            <a:avLst>
              <a:gd name="adj" fmla="val 13333"/>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70500"/>
            <a:ext cx="508000" cy="508000"/>
          </a:xfrm>
          <a:prstGeom prst="rect">
            <a:avLst/>
          </a:prstGeom>
        </p:spPr>
      </p:pic>
      <p:sp>
        <p:nvSpPr>
          <p:cNvPr id="17" name="AutoShape 17"/>
          <p:cNvSpPr/>
          <p:nvPr/>
        </p:nvSpPr>
        <p:spPr>
          <a:xfrm>
            <a:off x="1778000" y="5143500"/>
            <a:ext cx="927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技术升级参考：引入预训练语言模型 (PLM)</a:t>
            </a:r>
            <a:endParaRPr lang="en-US" sz="1100"/>
          </a:p>
        </p:txBody>
      </p:sp>
      <p:sp>
        <p:nvSpPr>
          <p:cNvPr id="18" name="AutoShape 18"/>
          <p:cNvSpPr/>
          <p:nvPr/>
        </p:nvSpPr>
        <p:spPr>
          <a:xfrm>
            <a:off x="1778000" y="5588000"/>
            <a:ext cx="9271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BERT、RoBERTa 等预训练模型替代传统 TF-IDF，对商品文本进行深度语义编码，生成具备上下文理解能力的 Embedding，从而在冷启动场景下获得更精准的匹配效果。</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基础推荐方法: 协同过滤场景</a:t>
            </a:r>
            <a:endParaRPr lang="en-US" sz="1100"/>
          </a:p>
        </p:txBody>
      </p:sp>
      <p:sp>
        <p:nvSpPr>
          <p:cNvPr id="3" name="AutoShape 3"/>
          <p:cNvSpPr/>
          <p:nvPr>
            <p:custDataLst>
              <p:tags r:id="rId1"/>
            </p:custDataLst>
          </p:nvPr>
        </p:nvSpPr>
        <p:spPr>
          <a:xfrm>
            <a:off x="762000" y="1651000"/>
            <a:ext cx="3302000" cy="4318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651000"/>
            <a:ext cx="3302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2032000"/>
            <a:ext cx="711200" cy="7112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3800" y="2209800"/>
            <a:ext cx="355600" cy="355600"/>
          </a:xfrm>
          <a:prstGeom prst="rect">
            <a:avLst/>
          </a:prstGeom>
        </p:spPr>
      </p:pic>
      <p:sp>
        <p:nvSpPr>
          <p:cNvPr id="7" name="AutoShape 7"/>
          <p:cNvSpPr/>
          <p:nvPr>
            <p:custDataLst>
              <p:tags r:id="rId7"/>
            </p:custDataLst>
          </p:nvPr>
        </p:nvSpPr>
        <p:spPr>
          <a:xfrm>
            <a:off x="1905000" y="20320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a:p>
            <a:pPr indent="0" algn="l">
              <a:lnSpc>
                <a:spcPct val="125000"/>
              </a:lnSpc>
            </a:pPr>
            <a:r>
              <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rPr>
              <a:t>Collaborative Filtering</a:t>
            </a:r>
            <a:endPar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custDataLst>
              <p:tags r:id="rId8"/>
            </p:custDataLst>
          </p:nvPr>
        </p:nvCxnSpPr>
        <p:spPr>
          <a:xfrm rot="-15626">
            <a:off x="1016014" y="2978150"/>
            <a:ext cx="279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9" name="AutoShape 9"/>
          <p:cNvSpPr/>
          <p:nvPr>
            <p:custDataLst>
              <p:tags r:id="rId9"/>
            </p:custDataLst>
          </p:nvPr>
        </p:nvSpPr>
        <p:spPr>
          <a:xfrm>
            <a:off x="1016000" y="3302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核心逻辑遵循“</a:t>
            </a: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物以类聚，人以群分</a:t>
            </a: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indent="0" algn="l">
              <a:lnSpc>
                <a:spcPct val="125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与内容无关，完全依赖用户历史交互行为数据（如点击、购买、评分）进行推荐。</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10"/>
            </p:custDataLst>
          </p:nvPr>
        </p:nvSpPr>
        <p:spPr>
          <a:xfrm>
            <a:off x="4445000" y="1651000"/>
            <a:ext cx="3302000" cy="4318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custDataLst>
              <p:tags r:id="rId11"/>
            </p:custDataLst>
          </p:nvPr>
        </p:nvSpPr>
        <p:spPr>
          <a:xfrm>
            <a:off x="4445000" y="1651000"/>
            <a:ext cx="3302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2"/>
            </p:custDataLst>
          </p:nvPr>
        </p:nvSpPr>
        <p:spPr>
          <a:xfrm>
            <a:off x="4699000" y="2032000"/>
            <a:ext cx="711200" cy="7112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6800" y="2209800"/>
            <a:ext cx="355600" cy="355600"/>
          </a:xfrm>
          <a:prstGeom prst="rect">
            <a:avLst/>
          </a:prstGeom>
        </p:spPr>
      </p:pic>
      <p:sp>
        <p:nvSpPr>
          <p:cNvPr id="14" name="AutoShape 14"/>
          <p:cNvSpPr/>
          <p:nvPr>
            <p:custDataLst>
              <p:tags r:id="rId16"/>
            </p:custDataLst>
          </p:nvPr>
        </p:nvSpPr>
        <p:spPr>
          <a:xfrm>
            <a:off x="5588000" y="20320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经典模型 (LFM)</a:t>
            </a:r>
            <a:endParaRPr lang="en-US" sz="1100"/>
          </a:p>
          <a:p>
            <a:pPr indent="0" algn="l">
              <a:lnSpc>
                <a:spcPct val="125000"/>
              </a:lnSpc>
            </a:pPr>
            <a:r>
              <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Latent Factor Model</a:t>
            </a:r>
            <a:endPar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custDataLst>
              <p:tags r:id="rId17"/>
            </p:custDataLst>
          </p:nvPr>
        </p:nvCxnSpPr>
        <p:spPr>
          <a:xfrm rot="-15626">
            <a:off x="4699014" y="2978150"/>
            <a:ext cx="279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6" name="AutoShape 16"/>
          <p:cNvSpPr/>
          <p:nvPr>
            <p:custDataLst>
              <p:tags r:id="rId18"/>
            </p:custDataLst>
          </p:nvPr>
        </p:nvSpPr>
        <p:spPr>
          <a:xfrm>
            <a:off x="4699000" y="3302000"/>
            <a:ext cx="2794000" cy="177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 代表算法：</a:t>
            </a: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SVD (奇异值分解)</a:t>
            </a:r>
            <a:endParaRPr lang="en-US" sz="1100"/>
          </a:p>
          <a:p>
            <a:pPr indent="0" algn="l">
              <a:lnSpc>
                <a:spcPct val="117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 将用户/商品映射到同一低维隐向量空间，用向量表征偏好与特性。</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 计算向量内积，预测用户对未交互商品的评分。</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9"/>
            </p:custDataLst>
          </p:nvPr>
        </p:nvSpPr>
        <p:spPr>
          <a:xfrm>
            <a:off x="8128000" y="1651000"/>
            <a:ext cx="3302000" cy="4318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25000"/>
              </a:srgbClr>
            </a:outerShdw>
          </a:effectLst>
        </p:spPr>
        <p:txBody>
          <a:bodyPr vert="horz" wrap="square" lIns="63500" tIns="63500" rIns="63500" bIns="63500" rtlCol="0" anchor="ctr"/>
          <a:lstStyle/>
          <a:p>
            <a:pPr algn="ctr">
              <a:defRPr/>
            </a:pPr>
          </a:p>
        </p:txBody>
      </p:sp>
      <p:sp>
        <p:nvSpPr>
          <p:cNvPr id="18" name="AutoShape 18"/>
          <p:cNvSpPr/>
          <p:nvPr>
            <p:custDataLst>
              <p:tags r:id="rId20"/>
            </p:custDataLst>
          </p:nvPr>
        </p:nvSpPr>
        <p:spPr>
          <a:xfrm>
            <a:off x="8128000" y="1651000"/>
            <a:ext cx="3302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21"/>
            </p:custDataLst>
          </p:nvPr>
        </p:nvSpPr>
        <p:spPr>
          <a:xfrm>
            <a:off x="8382000" y="2032000"/>
            <a:ext cx="711200" cy="7112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559800" y="2209800"/>
            <a:ext cx="355600" cy="355600"/>
          </a:xfrm>
          <a:prstGeom prst="rect">
            <a:avLst/>
          </a:prstGeom>
        </p:spPr>
      </p:pic>
      <p:sp>
        <p:nvSpPr>
          <p:cNvPr id="21" name="AutoShape 21"/>
          <p:cNvSpPr/>
          <p:nvPr>
            <p:custDataLst>
              <p:tags r:id="rId25"/>
            </p:custDataLst>
          </p:nvPr>
        </p:nvSpPr>
        <p:spPr>
          <a:xfrm>
            <a:off x="9271000" y="20320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技术升级方向</a:t>
            </a:r>
            <a:endParaRPr lang="en-US" sz="1100"/>
          </a:p>
          <a:p>
            <a:pPr indent="0" algn="l">
              <a:lnSpc>
                <a:spcPct val="125000"/>
              </a:lnSpc>
            </a:pPr>
            <a:r>
              <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rPr>
              <a:t>Graph Neural Network</a:t>
            </a:r>
            <a:endPar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2" name="Connector 22"/>
          <p:cNvCxnSpPr/>
          <p:nvPr>
            <p:custDataLst>
              <p:tags r:id="rId26"/>
            </p:custDataLst>
          </p:nvPr>
        </p:nvCxnSpPr>
        <p:spPr>
          <a:xfrm rot="-15626">
            <a:off x="8382014" y="2978150"/>
            <a:ext cx="279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3" name="AutoShape 23"/>
          <p:cNvSpPr/>
          <p:nvPr>
            <p:custDataLst>
              <p:tags r:id="rId27"/>
            </p:custDataLst>
          </p:nvPr>
        </p:nvSpPr>
        <p:spPr>
          <a:xfrm>
            <a:off x="8382000" y="3302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a:t>
            </a: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GNN (图神经网络)</a:t>
            </a: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构建交互图。</a:t>
            </a:r>
            <a:endParaRPr lang="en-US" sz="1100"/>
          </a:p>
          <a:p>
            <a:pPr indent="0" algn="l">
              <a:lnSpc>
                <a:spcPct val="125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捕捉“朋友的朋友”等高阶协同信号，挖掘更复杂的隐式关联模式，提升推荐精度。</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问题定义与相关工作</a:t>
            </a:r>
            <a:endParaRPr lang="en-US" sz="1100"/>
          </a:p>
        </p:txBody>
      </p:sp>
      <p:sp>
        <p:nvSpPr>
          <p:cNvPr id="3" name="AutoShape 3"/>
          <p:cNvSpPr/>
          <p:nvPr/>
        </p:nvSpPr>
        <p:spPr>
          <a:xfrm>
            <a:off x="762000" y="1524000"/>
            <a:ext cx="3302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778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理解购物车上下文</a:t>
            </a:r>
            <a:endParaRPr lang="en-US" sz="1100"/>
          </a:p>
        </p:txBody>
      </p:sp>
      <p:sp>
        <p:nvSpPr>
          <p:cNvPr id="6" name="AutoShape 6"/>
          <p:cNvSpPr/>
          <p:nvPr/>
        </p:nvSpPr>
        <p:spPr>
          <a:xfrm>
            <a:off x="1016000" y="2413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深度理解购物车中多商品组合所代表的用户潜在意图，而非孤立看待单品。</a:t>
            </a:r>
            <a:endParaRPr lang="en-US" sz="1100"/>
          </a:p>
        </p:txBody>
      </p:sp>
      <p:sp>
        <p:nvSpPr>
          <p:cNvPr id="7" name="AutoShape 7"/>
          <p:cNvSpPr/>
          <p:nvPr/>
        </p:nvSpPr>
        <p:spPr>
          <a:xfrm>
            <a:off x="4445000" y="1524000"/>
            <a:ext cx="3302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508000" cy="508000"/>
          </a:xfrm>
          <a:prstGeom prst="rect">
            <a:avLst/>
          </a:prstGeom>
        </p:spPr>
      </p:pic>
      <p:sp>
        <p:nvSpPr>
          <p:cNvPr id="9" name="AutoShape 9"/>
          <p:cNvSpPr/>
          <p:nvPr/>
        </p:nvSpPr>
        <p:spPr>
          <a:xfrm>
            <a:off x="5461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生成而非排序</a:t>
            </a:r>
            <a:endParaRPr lang="en-US" sz="1100"/>
          </a:p>
        </p:txBody>
      </p:sp>
      <p:sp>
        <p:nvSpPr>
          <p:cNvPr id="10" name="AutoShape 10"/>
          <p:cNvSpPr/>
          <p:nvPr/>
        </p:nvSpPr>
        <p:spPr>
          <a:xfrm>
            <a:off x="4699000" y="2413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不依赖预设的候选池进行打分排序，而是直接生成与购物车高度互补的新商品序列。</a:t>
            </a:r>
            <a:endParaRPr lang="en-US" sz="1100"/>
          </a:p>
        </p:txBody>
      </p:sp>
      <p:sp>
        <p:nvSpPr>
          <p:cNvPr id="11" name="AutoShape 11"/>
          <p:cNvSpPr/>
          <p:nvPr/>
        </p:nvSpPr>
        <p:spPr>
          <a:xfrm>
            <a:off x="8128000" y="1524000"/>
            <a:ext cx="3302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508000" cy="508000"/>
          </a:xfrm>
          <a:prstGeom prst="rect">
            <a:avLst/>
          </a:prstGeom>
        </p:spPr>
      </p:pic>
      <p:sp>
        <p:nvSpPr>
          <p:cNvPr id="13" name="AutoShape 13"/>
          <p:cNvSpPr/>
          <p:nvPr/>
        </p:nvSpPr>
        <p:spPr>
          <a:xfrm>
            <a:off x="9144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提供可解释理由</a:t>
            </a:r>
            <a:endParaRPr lang="en-US" sz="1100"/>
          </a:p>
        </p:txBody>
      </p:sp>
      <p:sp>
        <p:nvSpPr>
          <p:cNvPr id="14" name="AutoShape 14"/>
          <p:cNvSpPr/>
          <p:nvPr/>
        </p:nvSpPr>
        <p:spPr>
          <a:xfrm>
            <a:off x="8382000" y="2413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为每一个推荐结果生成自然、逻辑连贯的文本解释，增强用户对推荐结果的信任度。</a:t>
            </a:r>
            <a:endParaRPr lang="en-US" sz="1100"/>
          </a:p>
        </p:txBody>
      </p:sp>
      <p:sp>
        <p:nvSpPr>
          <p:cNvPr id="15" name="AutoShape 15"/>
          <p:cNvSpPr/>
          <p:nvPr/>
        </p:nvSpPr>
        <p:spPr>
          <a:xfrm>
            <a:off x="762000" y="3683000"/>
            <a:ext cx="5207000" cy="2286000"/>
          </a:xfrm>
          <a:prstGeom prst="roundRect">
            <a:avLst>
              <a:gd name="adj" fmla="val 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3683000"/>
            <a:ext cx="5207000" cy="571500"/>
          </a:xfrm>
          <a:prstGeom prst="roundRect">
            <a:avLst>
              <a:gd name="adj" fmla="val 26666"/>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3784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传统推荐：判别式模型 (Discriminative)</a:t>
            </a:r>
            <a:endParaRPr lang="en-US" sz="1800" b="1"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1016000" y="4445000"/>
            <a:ext cx="4699000" cy="635000"/>
          </a:xfrm>
          <a:prstGeom prst="roundRect">
            <a:avLst>
              <a:gd name="adj" fmla="val 16000"/>
            </a:avLst>
          </a:prstGeom>
          <a:solidFill>
            <a:srgbClr val="4646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206500" y="4508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a:t>
            </a: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预估用户对候选商品的偏好得分，通过排序返回Top-N结果。</a:t>
            </a:r>
            <a:endParaRPr lang="en-US" sz="1100"/>
          </a:p>
        </p:txBody>
      </p:sp>
      <p:sp>
        <p:nvSpPr>
          <p:cNvPr id="20" name="AutoShape 20"/>
          <p:cNvSpPr/>
          <p:nvPr/>
        </p:nvSpPr>
        <p:spPr>
          <a:xfrm>
            <a:off x="1016000" y="5207000"/>
            <a:ext cx="4699000" cy="635000"/>
          </a:xfrm>
          <a:prstGeom prst="roundRect">
            <a:avLst>
              <a:gd name="adj" fmla="val 16000"/>
            </a:avLst>
          </a:prstGeom>
          <a:solidFill>
            <a:srgbClr val="4646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206500" y="5270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互补挖掘：</a:t>
            </a: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基于商品共现统计或浅层特征，仅能发现显性、固定的搭配模式。</a:t>
            </a:r>
            <a:endParaRPr lang="en-US" sz="1100"/>
          </a:p>
        </p:txBody>
      </p:sp>
      <p:sp>
        <p:nvSpPr>
          <p:cNvPr id="22" name="AutoShape 22"/>
          <p:cNvSpPr/>
          <p:nvPr/>
        </p:nvSpPr>
        <p:spPr>
          <a:xfrm>
            <a:off x="6223000" y="3683000"/>
            <a:ext cx="5207000" cy="2286000"/>
          </a:xfrm>
          <a:prstGeom prst="roundRect">
            <a:avLst>
              <a:gd name="adj" fmla="val 6666"/>
            </a:avLst>
          </a:prstGeom>
          <a:solidFill>
            <a:srgbClr val="383838">
              <a:alpha val="100000"/>
            </a:srgbClr>
          </a:solidFill>
          <a:ln w="25400" cap="flat" cmpd="sng">
            <a:solidFill>
              <a:srgbClr val="40E0D0">
                <a:alpha val="4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3683000"/>
            <a:ext cx="5207000" cy="571500"/>
          </a:xfrm>
          <a:prstGeom prst="roundRect">
            <a:avLst>
              <a:gd name="adj" fmla="val 26666"/>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3784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本项目方法：生成式推荐 (Generative)</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477000" y="4445000"/>
            <a:ext cx="4699000" cy="635000"/>
          </a:xfrm>
          <a:prstGeom prst="roundRect">
            <a:avLst>
              <a:gd name="adj" fmla="val 1600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67500" y="4508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a:t>
            </a: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以购物车商品序列为条件，直接“创造”出高度互补的新商品序列。</a:t>
            </a:r>
            <a:endParaRPr lang="en-US" sz="1100"/>
          </a:p>
        </p:txBody>
      </p:sp>
      <p:sp>
        <p:nvSpPr>
          <p:cNvPr id="27" name="AutoShape 27"/>
          <p:cNvSpPr/>
          <p:nvPr/>
        </p:nvSpPr>
        <p:spPr>
          <a:xfrm>
            <a:off x="6477000" y="5207000"/>
            <a:ext cx="4699000" cy="635000"/>
          </a:xfrm>
          <a:prstGeom prst="roundRect">
            <a:avLst>
              <a:gd name="adj" fmla="val 1600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667500" y="5270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互补挖掘：</a:t>
            </a: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基于深度序列建模与语义理解，能够挖掘复杂、隐性的动态互补关系。</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系统架构与技术方案</a:t>
            </a:r>
            <a:endParaRPr lang="en-US" sz="1100"/>
          </a:p>
        </p:txBody>
      </p:sp>
      <p:sp>
        <p:nvSpPr>
          <p:cNvPr id="3" name="AutoShape 3"/>
          <p:cNvSpPr/>
          <p:nvPr/>
        </p:nvSpPr>
        <p:spPr>
          <a:xfrm>
            <a:off x="762000" y="1524000"/>
            <a:ext cx="5207000" cy="4699000"/>
          </a:xfrm>
          <a:prstGeom prst="roundRect">
            <a:avLst>
              <a:gd name="adj" fmla="val 3243"/>
            </a:avLst>
          </a:prstGeom>
          <a:solidFill>
            <a:srgbClr val="3A3A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207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系统分层架构 (Offline + Online)</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016000" y="2413000"/>
            <a:ext cx="4699000" cy="1397000"/>
          </a:xfrm>
          <a:prstGeom prst="roundRect">
            <a:avLst>
              <a:gd name="adj" fmla="val 7272"/>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06500" y="2667000"/>
            <a:ext cx="762000" cy="7620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58900" y="2819400"/>
            <a:ext cx="457200" cy="457200"/>
          </a:xfrm>
          <a:prstGeom prst="rect">
            <a:avLst/>
          </a:prstGeom>
        </p:spPr>
      </p:pic>
      <p:sp>
        <p:nvSpPr>
          <p:cNvPr id="9" name="AutoShape 9"/>
          <p:cNvSpPr/>
          <p:nvPr/>
        </p:nvSpPr>
        <p:spPr>
          <a:xfrm>
            <a:off x="2159000" y="2603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离线处理与训练模块</a:t>
            </a:r>
            <a:endParaRPr lang="en-US" sz="1100"/>
          </a:p>
        </p:txBody>
      </p:sp>
      <p:sp>
        <p:nvSpPr>
          <p:cNvPr id="10" name="AutoShape 10"/>
          <p:cNvSpPr/>
          <p:nvPr/>
        </p:nvSpPr>
        <p:spPr>
          <a:xfrm>
            <a:off x="2159000" y="3048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负责用户行为序列构建、商品特征提取；完成核心模型(minGPT)与增强模块(GNN)的训练；生成商品码本与推荐理由库。</a:t>
            </a:r>
            <a:endParaRPr lang="en-US" sz="1100"/>
          </a:p>
        </p:txBody>
      </p:sp>
      <p:sp>
        <p:nvSpPr>
          <p:cNvPr id="11" name="AutoShape 11"/>
          <p:cNvSpPr/>
          <p:nvPr/>
        </p:nvSpPr>
        <p:spPr>
          <a:xfrm>
            <a:off x="1016000" y="4064000"/>
            <a:ext cx="4699000" cy="1397000"/>
          </a:xfrm>
          <a:prstGeom prst="roundRect">
            <a:avLst>
              <a:gd name="adj" fmla="val 7272"/>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4318000"/>
            <a:ext cx="762000" cy="7620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58900" y="4470400"/>
            <a:ext cx="457200" cy="457200"/>
          </a:xfrm>
          <a:prstGeom prst="rect">
            <a:avLst/>
          </a:prstGeom>
        </p:spPr>
      </p:pic>
      <p:sp>
        <p:nvSpPr>
          <p:cNvPr id="14" name="AutoShape 14"/>
          <p:cNvSpPr/>
          <p:nvPr/>
        </p:nvSpPr>
        <p:spPr>
          <a:xfrm>
            <a:off x="2159000" y="4254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在线推理与服务模块</a:t>
            </a:r>
            <a:endParaRPr lang="en-US" sz="1100"/>
          </a:p>
        </p:txBody>
      </p:sp>
      <p:sp>
        <p:nvSpPr>
          <p:cNvPr id="15" name="AutoShape 15"/>
          <p:cNvSpPr/>
          <p:nvPr/>
        </p:nvSpPr>
        <p:spPr>
          <a:xfrm>
            <a:off x="2159000" y="4699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实时接收用户购物车信息，进行序列编码；通过生成式推荐获取候选集，经GNN重排序后，匹配理由库返回最终推荐列表。</a:t>
            </a:r>
            <a:endParaRPr lang="en-US" sz="1100"/>
          </a:p>
        </p:txBody>
      </p:sp>
      <p:sp>
        <p:nvSpPr>
          <p:cNvPr id="16" name="AutoShape 16"/>
          <p:cNvSpPr/>
          <p:nvPr/>
        </p:nvSpPr>
        <p:spPr>
          <a:xfrm>
            <a:off x="6223000" y="1524000"/>
            <a:ext cx="5207000" cy="4699000"/>
          </a:xfrm>
          <a:prstGeom prst="roundRect">
            <a:avLst>
              <a:gd name="adj" fmla="val 3243"/>
            </a:avLst>
          </a:prstGeom>
          <a:solidFill>
            <a:srgbClr val="3A3A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1524000"/>
            <a:ext cx="5207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全链路技术闭环流程</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477000" y="23495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04000" y="24765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25273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39000" y="2501900"/>
            <a:ext cx="355600" cy="355600"/>
          </a:xfrm>
          <a:prstGeom prst="rect">
            <a:avLst/>
          </a:prstGeom>
        </p:spPr>
      </p:pic>
      <p:sp>
        <p:nvSpPr>
          <p:cNvPr id="23" name="AutoShape 23"/>
          <p:cNvSpPr/>
          <p:nvPr/>
        </p:nvSpPr>
        <p:spPr>
          <a:xfrm>
            <a:off x="7747000" y="24130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离线数据准备阶段</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全量数据采集清洗 · 商品特征离散化 · 构建异构图</a:t>
            </a:r>
            <a:endParaRPr lang="en-US" sz="1100"/>
          </a:p>
        </p:txBody>
      </p:sp>
      <p:sp>
        <p:nvSpPr>
          <p:cNvPr id="24" name="AutoShape 24"/>
          <p:cNvSpPr/>
          <p:nvPr/>
        </p:nvSpPr>
        <p:spPr>
          <a:xfrm>
            <a:off x="6477000" y="31750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04000" y="33020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04000" y="33528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pic>
        <p:nvPicPr>
          <p:cNvPr id="27" name="Picture 2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39000" y="3327400"/>
            <a:ext cx="355600" cy="355600"/>
          </a:xfrm>
          <a:prstGeom prst="rect">
            <a:avLst/>
          </a:prstGeom>
        </p:spPr>
      </p:pic>
      <p:sp>
        <p:nvSpPr>
          <p:cNvPr id="28" name="AutoShape 28"/>
          <p:cNvSpPr/>
          <p:nvPr/>
        </p:nvSpPr>
        <p:spPr>
          <a:xfrm>
            <a:off x="7747000" y="32385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核心模型联合训练</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minGPT生成模型预训练 · GNN图神经网络增强训练</a:t>
            </a:r>
            <a:endParaRPr lang="en-US" sz="1100"/>
          </a:p>
        </p:txBody>
      </p:sp>
      <p:sp>
        <p:nvSpPr>
          <p:cNvPr id="29" name="AutoShape 29"/>
          <p:cNvSpPr/>
          <p:nvPr/>
        </p:nvSpPr>
        <p:spPr>
          <a:xfrm>
            <a:off x="6477000" y="40005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604000" y="41275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604000" y="41783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pic>
        <p:nvPicPr>
          <p:cNvPr id="32" name="Picture 3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39000" y="4152900"/>
            <a:ext cx="355600" cy="355600"/>
          </a:xfrm>
          <a:prstGeom prst="rect">
            <a:avLst/>
          </a:prstGeom>
        </p:spPr>
      </p:pic>
      <p:sp>
        <p:nvSpPr>
          <p:cNvPr id="33" name="AutoShape 33"/>
          <p:cNvSpPr/>
          <p:nvPr/>
        </p:nvSpPr>
        <p:spPr>
          <a:xfrm>
            <a:off x="7747000" y="40640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可解释模块构建</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离线挖掘用户-商品关联规则 · 构建推荐理由库</a:t>
            </a:r>
            <a:endParaRPr lang="en-US" sz="1100"/>
          </a:p>
        </p:txBody>
      </p:sp>
      <p:sp>
        <p:nvSpPr>
          <p:cNvPr id="34" name="AutoShape 34"/>
          <p:cNvSpPr/>
          <p:nvPr/>
        </p:nvSpPr>
        <p:spPr>
          <a:xfrm>
            <a:off x="6477000" y="48260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6604000" y="49530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604000" y="50038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pic>
        <p:nvPicPr>
          <p:cNvPr id="37" name="Picture 3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239000" y="4978400"/>
            <a:ext cx="355600" cy="355600"/>
          </a:xfrm>
          <a:prstGeom prst="rect">
            <a:avLst/>
          </a:prstGeom>
        </p:spPr>
      </p:pic>
      <p:sp>
        <p:nvSpPr>
          <p:cNvPr id="38" name="AutoShape 38"/>
          <p:cNvSpPr/>
          <p:nvPr/>
        </p:nvSpPr>
        <p:spPr>
          <a:xfrm>
            <a:off x="7747000" y="48895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在线推理服务阶段</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实时序列编码 · 生成候选集 · GNN重排序 · 理由匹配</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评估、成果与创新</a:t>
            </a:r>
            <a:endParaRPr lang="en-US" sz="1100"/>
          </a:p>
        </p:txBody>
      </p:sp>
      <p:sp>
        <p:nvSpPr>
          <p:cNvPr id="3" name="AutoShape 3"/>
          <p:cNvSpPr/>
          <p:nvPr/>
        </p:nvSpPr>
        <p:spPr>
          <a:xfrm>
            <a:off x="762000" y="1524000"/>
            <a:ext cx="4953000" cy="4699000"/>
          </a:xfrm>
          <a:prstGeom prst="roundRect">
            <a:avLst>
              <a:gd name="adj" fmla="val 4324"/>
            </a:avLst>
          </a:prstGeom>
          <a:solidFill>
            <a:srgbClr val="3A3A3A">
              <a:alpha val="100000"/>
            </a:srgbClr>
          </a:solidFill>
          <a:ln w="25400" cap="flat" cmpd="sng">
            <a:noFill/>
            <a:prstDash val="solid"/>
            <a:round/>
          </a:ln>
          <a:effectLst>
            <a:outerShdw blurRad="1905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评估体系与执行协议</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2413000"/>
            <a:ext cx="44450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2540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离线多维评估指标</a:t>
            </a:r>
            <a:endParaRPr lang="en-US" sz="1100"/>
          </a:p>
        </p:txBody>
      </p:sp>
      <p:sp>
        <p:nvSpPr>
          <p:cNvPr id="7" name="AutoShape 7"/>
          <p:cNvSpPr/>
          <p:nvPr/>
        </p:nvSpPr>
        <p:spPr>
          <a:xfrm>
            <a:off x="1206500" y="2984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HR@K、NDCG@K 衡量排序准确性；Complementary Ratio 衡量互补性；BLEU 衡量生成文本质量。</a:t>
            </a:r>
            <a:endParaRPr lang="en-US" sz="1100"/>
          </a:p>
        </p:txBody>
      </p:sp>
      <p:sp>
        <p:nvSpPr>
          <p:cNvPr id="8" name="AutoShape 8"/>
          <p:cNvSpPr/>
          <p:nvPr/>
        </p:nvSpPr>
        <p:spPr>
          <a:xfrm>
            <a:off x="1016000" y="3683000"/>
            <a:ext cx="44450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810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在线核心业务指标</a:t>
            </a:r>
            <a:endParaRPr lang="en-US" sz="1100"/>
          </a:p>
        </p:txBody>
      </p:sp>
      <p:sp>
        <p:nvSpPr>
          <p:cNvPr id="10" name="AutoShape 10"/>
          <p:cNvSpPr/>
          <p:nvPr/>
        </p:nvSpPr>
        <p:spPr>
          <a:xfrm>
            <a:off x="1206500" y="4254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重点关注 CTR (点击率)、CVR (转化率)、AOV (客单价) 及 GMV (成交总额) 的综合提升效果。</a:t>
            </a:r>
            <a:endParaRPr lang="en-US" sz="1100"/>
          </a:p>
        </p:txBody>
      </p:sp>
      <p:sp>
        <p:nvSpPr>
          <p:cNvPr id="11" name="AutoShape 11"/>
          <p:cNvSpPr/>
          <p:nvPr/>
        </p:nvSpPr>
        <p:spPr>
          <a:xfrm>
            <a:off x="1016000" y="4953000"/>
            <a:ext cx="4445000" cy="1016000"/>
          </a:xfrm>
          <a:prstGeom prst="roundRect">
            <a:avLst>
              <a:gd name="adj" fmla="val 10000"/>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5080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严格的对照实验协议</a:t>
            </a:r>
            <a:endParaRPr lang="en-US" sz="1100"/>
          </a:p>
        </p:txBody>
      </p:sp>
      <p:sp>
        <p:nvSpPr>
          <p:cNvPr id="13" name="AutoShape 13"/>
          <p:cNvSpPr/>
          <p:nvPr/>
        </p:nvSpPr>
        <p:spPr>
          <a:xfrm>
            <a:off x="1206500" y="5486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数据集按时间轴严格划分，设立Baseline模型，进行为期4周的A/B测试验证。</a:t>
            </a:r>
            <a:endParaRPr lang="en-US" sz="1100"/>
          </a:p>
        </p:txBody>
      </p:sp>
      <p:sp>
        <p:nvSpPr>
          <p:cNvPr id="14" name="AutoShape 14"/>
          <p:cNvSpPr/>
          <p:nvPr/>
        </p:nvSpPr>
        <p:spPr>
          <a:xfrm>
            <a:off x="5969000" y="1524000"/>
            <a:ext cx="5207000" cy="4699000"/>
          </a:xfrm>
          <a:prstGeom prst="roundRect">
            <a:avLst>
              <a:gd name="adj" fmla="val 4324"/>
            </a:avLst>
          </a:prstGeom>
          <a:solidFill>
            <a:srgbClr val="3A3A3A">
              <a:alpha val="100000"/>
            </a:srgbClr>
          </a:solidFill>
          <a:ln w="25400" cap="flat" cmpd="sng">
            <a:noFill/>
            <a:prstDash val="solid"/>
            <a:round/>
          </a:ln>
          <a:effectLst>
            <a:outerShdw blurRad="1905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15" name="AutoShape 15"/>
          <p:cNvSpPr/>
          <p:nvPr/>
        </p:nvSpPr>
        <p:spPr>
          <a:xfrm>
            <a:off x="6223000" y="1778000"/>
            <a:ext cx="46990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1905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预期成果交付清单</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413500" y="23114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产出一套完整的互补品推荐算法方案、一个高性能的混合推荐模型，以及一份包含详细实验数据的技术报告。</a:t>
            </a:r>
            <a:endParaRPr lang="en-US" sz="1100"/>
          </a:p>
        </p:txBody>
      </p:sp>
      <p:sp>
        <p:nvSpPr>
          <p:cNvPr id="18" name="AutoShape 18"/>
          <p:cNvSpPr/>
          <p:nvPr/>
        </p:nvSpPr>
        <p:spPr>
          <a:xfrm>
            <a:off x="6223000" y="3111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四大核心创新维度</a:t>
            </a:r>
            <a:endParaRPr lang="en-US" sz="1100"/>
          </a:p>
        </p:txBody>
      </p:sp>
      <p:sp>
        <p:nvSpPr>
          <p:cNvPr id="19" name="AutoShape 19"/>
          <p:cNvSpPr/>
          <p:nvPr/>
        </p:nvSpPr>
        <p:spPr>
          <a:xfrm>
            <a:off x="6223000" y="368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0" y="3810000"/>
            <a:ext cx="355600" cy="355600"/>
          </a:xfrm>
          <a:prstGeom prst="rect">
            <a:avLst/>
          </a:prstGeom>
        </p:spPr>
      </p:pic>
      <p:sp>
        <p:nvSpPr>
          <p:cNvPr id="21" name="AutoShape 21"/>
          <p:cNvSpPr/>
          <p:nvPr/>
        </p:nvSpPr>
        <p:spPr>
          <a:xfrm>
            <a:off x="6794500" y="381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范式创新</a:t>
            </a:r>
            <a:endParaRPr lang="en-US" sz="1100"/>
          </a:p>
        </p:txBody>
      </p:sp>
      <p:sp>
        <p:nvSpPr>
          <p:cNvPr id="22" name="AutoShape 22"/>
          <p:cNvSpPr/>
          <p:nvPr/>
        </p:nvSpPr>
        <p:spPr>
          <a:xfrm>
            <a:off x="6350000" y="425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首次将生成式AI应用于支付界面的互补品推荐场景。</a:t>
            </a:r>
            <a:endParaRPr lang="en-US" sz="1100"/>
          </a:p>
        </p:txBody>
      </p:sp>
      <p:sp>
        <p:nvSpPr>
          <p:cNvPr id="23" name="AutoShape 23"/>
          <p:cNvSpPr/>
          <p:nvPr/>
        </p:nvSpPr>
        <p:spPr>
          <a:xfrm>
            <a:off x="8636000" y="368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63000" y="3810000"/>
            <a:ext cx="355600" cy="355600"/>
          </a:xfrm>
          <a:prstGeom prst="rect">
            <a:avLst/>
          </a:prstGeom>
        </p:spPr>
      </p:pic>
      <p:sp>
        <p:nvSpPr>
          <p:cNvPr id="25" name="AutoShape 25"/>
          <p:cNvSpPr/>
          <p:nvPr/>
        </p:nvSpPr>
        <p:spPr>
          <a:xfrm>
            <a:off x="9207500" y="381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模型架构创新</a:t>
            </a:r>
            <a:endParaRPr lang="en-US" sz="1100"/>
          </a:p>
        </p:txBody>
      </p:sp>
      <p:sp>
        <p:nvSpPr>
          <p:cNvPr id="26" name="AutoShape 26"/>
          <p:cNvSpPr/>
          <p:nvPr/>
        </p:nvSpPr>
        <p:spPr>
          <a:xfrm>
            <a:off x="8763000" y="425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提出minGPT + GNN + 多模态融合的混合模型架构。</a:t>
            </a:r>
            <a:endParaRPr lang="en-US" sz="1100"/>
          </a:p>
        </p:txBody>
      </p:sp>
      <p:sp>
        <p:nvSpPr>
          <p:cNvPr id="27" name="AutoShape 27"/>
          <p:cNvSpPr/>
          <p:nvPr/>
        </p:nvSpPr>
        <p:spPr>
          <a:xfrm>
            <a:off x="6223000" y="495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5080000"/>
            <a:ext cx="355600" cy="355600"/>
          </a:xfrm>
          <a:prstGeom prst="rect">
            <a:avLst/>
          </a:prstGeom>
        </p:spPr>
      </p:pic>
      <p:sp>
        <p:nvSpPr>
          <p:cNvPr id="29" name="AutoShape 29"/>
          <p:cNvSpPr/>
          <p:nvPr/>
        </p:nvSpPr>
        <p:spPr>
          <a:xfrm>
            <a:off x="6794500" y="508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可解释性增强</a:t>
            </a:r>
            <a:endParaRPr lang="en-US" sz="1100"/>
          </a:p>
        </p:txBody>
      </p:sp>
      <p:sp>
        <p:nvSpPr>
          <p:cNvPr id="30" name="AutoShape 30"/>
          <p:cNvSpPr/>
          <p:nvPr/>
        </p:nvSpPr>
        <p:spPr>
          <a:xfrm>
            <a:off x="6350000" y="552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设计“离线构建+在线查询”的轻量化LLM理由生成方案。</a:t>
            </a:r>
            <a:endParaRPr lang="en-US" sz="1100"/>
          </a:p>
        </p:txBody>
      </p:sp>
      <p:sp>
        <p:nvSpPr>
          <p:cNvPr id="31" name="AutoShape 31"/>
          <p:cNvSpPr/>
          <p:nvPr/>
        </p:nvSpPr>
        <p:spPr>
          <a:xfrm>
            <a:off x="8636000" y="495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63000" y="5080000"/>
            <a:ext cx="355600" cy="355600"/>
          </a:xfrm>
          <a:prstGeom prst="rect">
            <a:avLst/>
          </a:prstGeom>
        </p:spPr>
      </p:pic>
      <p:sp>
        <p:nvSpPr>
          <p:cNvPr id="33" name="AutoShape 33"/>
          <p:cNvSpPr/>
          <p:nvPr/>
        </p:nvSpPr>
        <p:spPr>
          <a:xfrm>
            <a:off x="9207500" y="508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商业应用创新</a:t>
            </a:r>
            <a:endParaRPr lang="en-US" sz="1100"/>
          </a:p>
        </p:txBody>
      </p:sp>
      <p:sp>
        <p:nvSpPr>
          <p:cNvPr id="34" name="AutoShape 34"/>
          <p:cNvSpPr/>
          <p:nvPr/>
        </p:nvSpPr>
        <p:spPr>
          <a:xfrm>
            <a:off x="8763000" y="552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聚焦支付高价值场景，直接驱动平台核心商业指标增长。</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数据方案</a:t>
            </a:r>
            <a:endParaRPr lang="en-US" sz="1100"/>
          </a:p>
        </p:txBody>
      </p:sp>
      <p:sp>
        <p:nvSpPr>
          <p:cNvPr id="3" name="AutoShape 3"/>
          <p:cNvSpPr/>
          <p:nvPr/>
        </p:nvSpPr>
        <p:spPr>
          <a:xfrm>
            <a:off x="762000" y="1397000"/>
            <a:ext cx="5207000" cy="3556000"/>
          </a:xfrm>
          <a:prstGeom prst="roundRect">
            <a:avLst>
              <a:gd name="adj" fmla="val 4285"/>
            </a:avLst>
          </a:prstGeom>
          <a:solidFill>
            <a:srgbClr val="3A3A3A">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16000" y="15875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多源数据构成体系</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2286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413000"/>
            <a:ext cx="457200" cy="457200"/>
          </a:xfrm>
          <a:prstGeom prst="rect">
            <a:avLst/>
          </a:prstGeom>
        </p:spPr>
      </p:pic>
      <p:sp>
        <p:nvSpPr>
          <p:cNvPr id="7" name="AutoShape 7"/>
          <p:cNvSpPr/>
          <p:nvPr/>
        </p:nvSpPr>
        <p:spPr>
          <a:xfrm>
            <a:off x="1714500" y="2387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用户行为数据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来源：电商日志 | 构建行为序列</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492500" y="2286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9500" y="2413000"/>
            <a:ext cx="457200" cy="457200"/>
          </a:xfrm>
          <a:prstGeom prst="rect">
            <a:avLst/>
          </a:prstGeom>
        </p:spPr>
      </p:pic>
      <p:sp>
        <p:nvSpPr>
          <p:cNvPr id="10" name="AutoShape 10"/>
          <p:cNvSpPr/>
          <p:nvPr/>
        </p:nvSpPr>
        <p:spPr>
          <a:xfrm>
            <a:off x="4191000" y="2387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商品元数据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来源：商品库 | 类目/价格特征</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16000" y="3429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3556000"/>
            <a:ext cx="457200" cy="457200"/>
          </a:xfrm>
          <a:prstGeom prst="rect">
            <a:avLst/>
          </a:prstGeom>
        </p:spPr>
      </p:pic>
      <p:sp>
        <p:nvSpPr>
          <p:cNvPr id="13" name="AutoShape 13"/>
          <p:cNvSpPr/>
          <p:nvPr/>
        </p:nvSpPr>
        <p:spPr>
          <a:xfrm>
            <a:off x="1714500" y="3530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商品图像数据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来源：主图/细节 | ViT特征提取</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3492500" y="3429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19500" y="3556000"/>
            <a:ext cx="457200" cy="457200"/>
          </a:xfrm>
          <a:prstGeom prst="rect">
            <a:avLst/>
          </a:prstGeom>
        </p:spPr>
      </p:pic>
      <p:sp>
        <p:nvSpPr>
          <p:cNvPr id="16" name="AutoShape 16"/>
          <p:cNvSpPr/>
          <p:nvPr/>
        </p:nvSpPr>
        <p:spPr>
          <a:xfrm>
            <a:off x="4191000" y="3530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文本描述数据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来源：详情页 | BERT语义理解</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223000" y="1397000"/>
            <a:ext cx="5207000" cy="3556000"/>
          </a:xfrm>
          <a:prstGeom prst="roundRect">
            <a:avLst>
              <a:gd name="adj" fmla="val 4285"/>
            </a:avLst>
          </a:prstGeom>
          <a:solidFill>
            <a:srgbClr val="3A3A3A">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6477000" y="15875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02 / 互补品样本标注全流程</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477000" y="2286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nvSpPr>
        <p:spPr>
          <a:xfrm>
            <a:off x="6477000" y="2286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6604000" y="2349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 数据筛选</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过滤包含多商品的成功订单</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953500" y="2286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8953500" y="2286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nvSpPr>
        <p:spPr>
          <a:xfrm>
            <a:off x="9080500" y="2349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 序列构建</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滑动窗口生成 (历史序列, 目标)</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477000" y="3429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6477000" y="3429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6604000" y="3492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03 负样本采样</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随机采样非互补商品作为负例</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8953500" y="3429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8953500" y="3429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9080500" y="3492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04 人工校验</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构建高质量验证集评估模型</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项目计划与时间线</a:t>
            </a:r>
            <a:endParaRPr lang="en-US" sz="1100"/>
          </a:p>
        </p:txBody>
      </p:sp>
      <p:sp>
        <p:nvSpPr>
          <p:cNvPr id="3" name="AutoShape 3"/>
          <p:cNvSpPr/>
          <p:nvPr/>
        </p:nvSpPr>
        <p:spPr>
          <a:xfrm>
            <a:off x="762000" y="1524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952500" y="1651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数据准备阶段</a:t>
            </a:r>
            <a:endParaRPr lang="en-US" sz="1100"/>
          </a:p>
        </p:txBody>
      </p:sp>
      <p:sp>
        <p:nvSpPr>
          <p:cNvPr id="5" name="AutoShape 5"/>
          <p:cNvSpPr/>
          <p:nvPr/>
        </p:nvSpPr>
        <p:spPr>
          <a:xfrm>
            <a:off x="2667000" y="1651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3175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683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191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699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207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286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52500" y="2413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模型设计与实现</a:t>
            </a:r>
            <a:endParaRPr lang="en-US" sz="1100"/>
          </a:p>
        </p:txBody>
      </p:sp>
      <p:sp>
        <p:nvSpPr>
          <p:cNvPr id="13" name="AutoShape 13"/>
          <p:cNvSpPr/>
          <p:nvPr/>
        </p:nvSpPr>
        <p:spPr>
          <a:xfrm>
            <a:off x="2667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175000" y="2413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3683000" y="2413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191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99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207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3048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3175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核心模型训练调优</a:t>
            </a:r>
            <a:endParaRPr lang="en-US" sz="1100"/>
          </a:p>
        </p:txBody>
      </p:sp>
      <p:sp>
        <p:nvSpPr>
          <p:cNvPr id="21" name="AutoShape 21"/>
          <p:cNvSpPr/>
          <p:nvPr/>
        </p:nvSpPr>
        <p:spPr>
          <a:xfrm>
            <a:off x="2667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3175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3683000" y="3175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191000" y="3175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699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5207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 y="3810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52500" y="3937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增强与可解释模块</a:t>
            </a:r>
            <a:endParaRPr lang="en-US" sz="1100"/>
          </a:p>
        </p:txBody>
      </p:sp>
      <p:sp>
        <p:nvSpPr>
          <p:cNvPr id="29" name="AutoShape 29"/>
          <p:cNvSpPr/>
          <p:nvPr/>
        </p:nvSpPr>
        <p:spPr>
          <a:xfrm>
            <a:off x="2667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3175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3683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4191000" y="3937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4699000" y="3937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5207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762000" y="4572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952500" y="4699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离线评估与分析</a:t>
            </a:r>
            <a:endParaRPr lang="en-US" sz="1100"/>
          </a:p>
        </p:txBody>
      </p:sp>
      <p:sp>
        <p:nvSpPr>
          <p:cNvPr id="37" name="AutoShape 37"/>
          <p:cNvSpPr/>
          <p:nvPr/>
        </p:nvSpPr>
        <p:spPr>
          <a:xfrm>
            <a:off x="2667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3175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3683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4191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4699000" y="4699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2" name="AutoShape 42"/>
          <p:cNvSpPr/>
          <p:nvPr/>
        </p:nvSpPr>
        <p:spPr>
          <a:xfrm>
            <a:off x="5207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3" name="AutoShape 43"/>
          <p:cNvSpPr/>
          <p:nvPr/>
        </p:nvSpPr>
        <p:spPr>
          <a:xfrm>
            <a:off x="762000" y="5334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44" name="AutoShape 44"/>
          <p:cNvSpPr/>
          <p:nvPr/>
        </p:nvSpPr>
        <p:spPr>
          <a:xfrm>
            <a:off x="952500" y="5461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部署与答辩准备</a:t>
            </a:r>
            <a:endParaRPr lang="en-US" sz="1100"/>
          </a:p>
        </p:txBody>
      </p:sp>
      <p:sp>
        <p:nvSpPr>
          <p:cNvPr id="45" name="AutoShape 45"/>
          <p:cNvSpPr/>
          <p:nvPr/>
        </p:nvSpPr>
        <p:spPr>
          <a:xfrm>
            <a:off x="2667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AutoShape 46"/>
          <p:cNvSpPr/>
          <p:nvPr/>
        </p:nvSpPr>
        <p:spPr>
          <a:xfrm>
            <a:off x="3175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7" name="AutoShape 47"/>
          <p:cNvSpPr/>
          <p:nvPr/>
        </p:nvSpPr>
        <p:spPr>
          <a:xfrm>
            <a:off x="3683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8" name="AutoShape 48"/>
          <p:cNvSpPr/>
          <p:nvPr/>
        </p:nvSpPr>
        <p:spPr>
          <a:xfrm>
            <a:off x="4191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9" name="AutoShape 49"/>
          <p:cNvSpPr/>
          <p:nvPr/>
        </p:nvSpPr>
        <p:spPr>
          <a:xfrm>
            <a:off x="4699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0" name="AutoShape 50"/>
          <p:cNvSpPr/>
          <p:nvPr/>
        </p:nvSpPr>
        <p:spPr>
          <a:xfrm>
            <a:off x="5207000" y="5461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1" name="AutoShape 51"/>
          <p:cNvSpPr/>
          <p:nvPr/>
        </p:nvSpPr>
        <p:spPr>
          <a:xfrm>
            <a:off x="5715000" y="1524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52" name="Picture 5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05500" y="1714500"/>
            <a:ext cx="457200" cy="457200"/>
          </a:xfrm>
          <a:prstGeom prst="rect">
            <a:avLst/>
          </a:prstGeom>
        </p:spPr>
      </p:pic>
      <p:sp>
        <p:nvSpPr>
          <p:cNvPr id="53" name="AutoShape 53"/>
          <p:cNvSpPr/>
          <p:nvPr/>
        </p:nvSpPr>
        <p:spPr>
          <a:xfrm>
            <a:off x="6477000" y="1752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第1周 · 数据准备</a:t>
            </a:r>
            <a:endParaRPr lang="en-US" sz="1100"/>
          </a:p>
        </p:txBody>
      </p:sp>
      <p:cxnSp>
        <p:nvCxnSpPr>
          <p:cNvPr id="54" name="Connector 54"/>
          <p:cNvCxnSpPr/>
          <p:nvPr/>
        </p:nvCxnSpPr>
        <p:spPr>
          <a:xfrm rot="-18093">
            <a:off x="5905517" y="2343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55" name="AutoShape 55"/>
          <p:cNvSpPr/>
          <p:nvPr/>
        </p:nvSpPr>
        <p:spPr>
          <a:xfrm>
            <a:off x="5905500" y="2540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完成数据集清洗、缺失值处理；开展探索性数据分析(EDA)；完成特征工程构建输入向量。</a:t>
            </a:r>
            <a:endParaRPr lang="en-US" sz="1100"/>
          </a:p>
        </p:txBody>
      </p:sp>
      <p:sp>
        <p:nvSpPr>
          <p:cNvPr id="56" name="AutoShape 56"/>
          <p:cNvSpPr/>
          <p:nvPr/>
        </p:nvSpPr>
        <p:spPr>
          <a:xfrm>
            <a:off x="8636000" y="1524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57" name="Picture 5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26500" y="1714500"/>
            <a:ext cx="457200" cy="457200"/>
          </a:xfrm>
          <a:prstGeom prst="rect">
            <a:avLst/>
          </a:prstGeom>
        </p:spPr>
      </p:pic>
      <p:sp>
        <p:nvSpPr>
          <p:cNvPr id="58" name="AutoShape 58"/>
          <p:cNvSpPr/>
          <p:nvPr/>
        </p:nvSpPr>
        <p:spPr>
          <a:xfrm>
            <a:off x="9398000" y="1752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第2-3周 · 模型构建</a:t>
            </a:r>
            <a:endParaRPr lang="en-US" sz="1100"/>
          </a:p>
        </p:txBody>
      </p:sp>
      <p:cxnSp>
        <p:nvCxnSpPr>
          <p:cNvPr id="59" name="Connector 59"/>
          <p:cNvCxnSpPr/>
          <p:nvPr/>
        </p:nvCxnSpPr>
        <p:spPr>
          <a:xfrm rot="-18093">
            <a:off x="8826517" y="2343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60" name="AutoShape 60"/>
          <p:cNvSpPr/>
          <p:nvPr/>
        </p:nvSpPr>
        <p:spPr>
          <a:xfrm>
            <a:off x="8826500" y="2540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基于PyTorch实现minGPT核心架构；编写数据加载器；完成模型的初始化与初步预训练。</a:t>
            </a:r>
            <a:endParaRPr lang="en-US" sz="1100"/>
          </a:p>
        </p:txBody>
      </p:sp>
      <p:sp>
        <p:nvSpPr>
          <p:cNvPr id="61" name="AutoShape 61"/>
          <p:cNvSpPr/>
          <p:nvPr/>
        </p:nvSpPr>
        <p:spPr>
          <a:xfrm>
            <a:off x="5715000" y="3937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62" name="Picture 6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5500" y="4127500"/>
            <a:ext cx="457200" cy="457200"/>
          </a:xfrm>
          <a:prstGeom prst="rect">
            <a:avLst/>
          </a:prstGeom>
        </p:spPr>
      </p:pic>
      <p:sp>
        <p:nvSpPr>
          <p:cNvPr id="63" name="AutoShape 63"/>
          <p:cNvSpPr/>
          <p:nvPr/>
        </p:nvSpPr>
        <p:spPr>
          <a:xfrm>
            <a:off x="6477000" y="4165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第4-5周 · 开发评估</a:t>
            </a:r>
            <a:endParaRPr lang="en-US" sz="1100"/>
          </a:p>
        </p:txBody>
      </p:sp>
      <p:cxnSp>
        <p:nvCxnSpPr>
          <p:cNvPr id="64" name="Connector 64"/>
          <p:cNvCxnSpPr/>
          <p:nvPr/>
        </p:nvCxnSpPr>
        <p:spPr>
          <a:xfrm rot="-18093">
            <a:off x="5905517" y="4756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65" name="AutoShape 65"/>
          <p:cNvSpPr/>
          <p:nvPr/>
        </p:nvSpPr>
        <p:spPr>
          <a:xfrm>
            <a:off x="5905500" y="4953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集成GNN图神经网络增强模块；开发Attention可视化可解释模块；执行全面的离线指标评估。</a:t>
            </a:r>
            <a:endParaRPr lang="en-US" sz="1100"/>
          </a:p>
        </p:txBody>
      </p:sp>
      <p:sp>
        <p:nvSpPr>
          <p:cNvPr id="66" name="AutoShape 66"/>
          <p:cNvSpPr/>
          <p:nvPr/>
        </p:nvSpPr>
        <p:spPr>
          <a:xfrm>
            <a:off x="8636000" y="3937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67" name="Picture 6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26500" y="4127500"/>
            <a:ext cx="457200" cy="457200"/>
          </a:xfrm>
          <a:prstGeom prst="rect">
            <a:avLst/>
          </a:prstGeom>
        </p:spPr>
      </p:pic>
      <p:sp>
        <p:nvSpPr>
          <p:cNvPr id="68" name="AutoShape 68"/>
          <p:cNvSpPr/>
          <p:nvPr/>
        </p:nvSpPr>
        <p:spPr>
          <a:xfrm>
            <a:off x="9398000" y="4165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第6周 · 部署总结</a:t>
            </a:r>
            <a:endParaRPr lang="en-US" sz="1100"/>
          </a:p>
        </p:txBody>
      </p:sp>
      <p:cxnSp>
        <p:nvCxnSpPr>
          <p:cNvPr id="69" name="Connector 69"/>
          <p:cNvCxnSpPr/>
          <p:nvPr/>
        </p:nvCxnSpPr>
        <p:spPr>
          <a:xfrm rot="-18093">
            <a:off x="8826517" y="4756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70" name="AutoShape 70"/>
          <p:cNvSpPr/>
          <p:nvPr/>
        </p:nvSpPr>
        <p:spPr>
          <a:xfrm>
            <a:off x="8826500" y="4953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部署模型至线上环境并执行A/B测试；整理实验数据与图表；撰写最终报告并准备答辩PPT。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可行性分析与风险应对</a:t>
            </a:r>
            <a:endParaRPr lang="en-US" sz="1100"/>
          </a:p>
        </p:txBody>
      </p:sp>
      <p:sp>
        <p:nvSpPr>
          <p:cNvPr id="3" name="AutoShape 3"/>
          <p:cNvSpPr/>
          <p:nvPr/>
        </p:nvSpPr>
        <p:spPr>
          <a:xfrm>
            <a:off x="762000" y="1524000"/>
            <a:ext cx="3302000" cy="4826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4" name="AutoShape 4"/>
          <p:cNvSpPr/>
          <p:nvPr/>
        </p:nvSpPr>
        <p:spPr>
          <a:xfrm>
            <a:off x="952500" y="1714500"/>
            <a:ext cx="609600" cy="609600"/>
          </a:xfrm>
          <a:prstGeom prst="ellipse">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54100" y="1816100"/>
            <a:ext cx="406400" cy="406400"/>
          </a:xfrm>
          <a:prstGeom prst="rect">
            <a:avLst/>
          </a:prstGeom>
        </p:spPr>
      </p:pic>
      <p:sp>
        <p:nvSpPr>
          <p:cNvPr id="6" name="AutoShape 6"/>
          <p:cNvSpPr/>
          <p:nvPr/>
        </p:nvSpPr>
        <p:spPr>
          <a:xfrm>
            <a:off x="1714500" y="18161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数据可行性</a:t>
            </a:r>
            <a:endPar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952500" y="254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66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可行性分析</a:t>
            </a:r>
            <a:endParaRPr lang="en-US" sz="1100"/>
          </a:p>
        </p:txBody>
      </p:sp>
      <p:sp>
        <p:nvSpPr>
          <p:cNvPr id="9" name="AutoShape 9"/>
          <p:cNvSpPr/>
          <p:nvPr/>
        </p:nvSpPr>
        <p:spPr>
          <a:xfrm>
            <a:off x="1079500" y="304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电商平台沉淀了海量的用户交互行为与多维商品画像数据，基础数据储备充足。</a:t>
            </a:r>
            <a:endParaRPr lang="en-US" sz="1100"/>
          </a:p>
        </p:txBody>
      </p:sp>
      <p:sp>
        <p:nvSpPr>
          <p:cNvPr id="10" name="AutoShape 10"/>
          <p:cNvSpPr/>
          <p:nvPr/>
        </p:nvSpPr>
        <p:spPr>
          <a:xfrm>
            <a:off x="952500" y="381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393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潜在风险</a:t>
            </a:r>
            <a:endParaRPr lang="en-US" sz="1100"/>
          </a:p>
        </p:txBody>
      </p:sp>
      <p:sp>
        <p:nvSpPr>
          <p:cNvPr id="12" name="AutoShape 12"/>
          <p:cNvSpPr/>
          <p:nvPr/>
        </p:nvSpPr>
        <p:spPr>
          <a:xfrm>
            <a:off x="1079500" y="431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存在明显的数据稀疏性问题，部分长尾商品缺乏足够的用户行为数据支撑。</a:t>
            </a:r>
            <a:endParaRPr lang="en-US" sz="1100"/>
          </a:p>
        </p:txBody>
      </p:sp>
      <p:sp>
        <p:nvSpPr>
          <p:cNvPr id="13" name="AutoShape 13"/>
          <p:cNvSpPr/>
          <p:nvPr/>
        </p:nvSpPr>
        <p:spPr>
          <a:xfrm>
            <a:off x="952500" y="5080000"/>
            <a:ext cx="2921000" cy="1016000"/>
          </a:xfrm>
          <a:prstGeom prst="roundRect">
            <a:avLst>
              <a:gd name="adj" fmla="val 10000"/>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79500" y="520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应对策略</a:t>
            </a:r>
            <a:endParaRPr lang="en-US" sz="1100"/>
          </a:p>
        </p:txBody>
      </p:sp>
      <p:sp>
        <p:nvSpPr>
          <p:cNvPr id="15" name="AutoShape 15"/>
          <p:cNvSpPr/>
          <p:nvPr/>
        </p:nvSpPr>
        <p:spPr>
          <a:xfrm>
            <a:off x="1079500" y="5524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利用GNN挖掘关联特征，结合迁移学习技术有效缓解长尾商品冷启动问题。</a:t>
            </a:r>
            <a:endParaRPr lang="en-US" sz="1100"/>
          </a:p>
        </p:txBody>
      </p:sp>
      <p:sp>
        <p:nvSpPr>
          <p:cNvPr id="16" name="AutoShape 16"/>
          <p:cNvSpPr/>
          <p:nvPr/>
        </p:nvSpPr>
        <p:spPr>
          <a:xfrm>
            <a:off x="4445000" y="1524000"/>
            <a:ext cx="3302000" cy="4826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17" name="AutoShape 17"/>
          <p:cNvSpPr/>
          <p:nvPr/>
        </p:nvSpPr>
        <p:spPr>
          <a:xfrm>
            <a:off x="4635500" y="1714500"/>
            <a:ext cx="609600" cy="609600"/>
          </a:xfrm>
          <a:prstGeom prst="ellipse">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37100" y="1816100"/>
            <a:ext cx="406400" cy="406400"/>
          </a:xfrm>
          <a:prstGeom prst="rect">
            <a:avLst/>
          </a:prstGeom>
        </p:spPr>
      </p:pic>
      <p:sp>
        <p:nvSpPr>
          <p:cNvPr id="19" name="AutoShape 19"/>
          <p:cNvSpPr/>
          <p:nvPr/>
        </p:nvSpPr>
        <p:spPr>
          <a:xfrm>
            <a:off x="5397500" y="18161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技术可行性</a:t>
            </a:r>
            <a:endPar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4635500" y="254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762500" y="266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可行性分析</a:t>
            </a:r>
            <a:endParaRPr lang="en-US" sz="1100"/>
          </a:p>
        </p:txBody>
      </p:sp>
      <p:sp>
        <p:nvSpPr>
          <p:cNvPr id="22" name="AutoShape 22"/>
          <p:cNvSpPr/>
          <p:nvPr/>
        </p:nvSpPr>
        <p:spPr>
          <a:xfrm>
            <a:off x="4762500" y="304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生成式模型、GNN及多模态学习技术已趋于成熟，且拥有丰富的开源工具库支持。</a:t>
            </a:r>
            <a:endParaRPr lang="en-US" sz="1100"/>
          </a:p>
        </p:txBody>
      </p:sp>
      <p:sp>
        <p:nvSpPr>
          <p:cNvPr id="23" name="AutoShape 23"/>
          <p:cNvSpPr/>
          <p:nvPr/>
        </p:nvSpPr>
        <p:spPr>
          <a:xfrm>
            <a:off x="4635500" y="381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762500" y="393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潜在风险</a:t>
            </a:r>
            <a:endParaRPr lang="en-US" sz="1100"/>
          </a:p>
        </p:txBody>
      </p:sp>
      <p:sp>
        <p:nvSpPr>
          <p:cNvPr id="25" name="AutoShape 25"/>
          <p:cNvSpPr/>
          <p:nvPr/>
        </p:nvSpPr>
        <p:spPr>
          <a:xfrm>
            <a:off x="4762500" y="431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深层模型复杂度较高，在大规模数据下，模型的训练耗时与在线推理成本可能超预期。</a:t>
            </a:r>
            <a:endParaRPr lang="en-US" sz="1100"/>
          </a:p>
        </p:txBody>
      </p:sp>
      <p:sp>
        <p:nvSpPr>
          <p:cNvPr id="26" name="AutoShape 26"/>
          <p:cNvSpPr/>
          <p:nvPr/>
        </p:nvSpPr>
        <p:spPr>
          <a:xfrm>
            <a:off x="4635500" y="5080000"/>
            <a:ext cx="2921000" cy="1016000"/>
          </a:xfrm>
          <a:prstGeom prst="roundRect">
            <a:avLst>
              <a:gd name="adj" fmla="val 10000"/>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4762500" y="520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应对策略</a:t>
            </a:r>
            <a:endParaRPr lang="en-US" sz="1100"/>
          </a:p>
        </p:txBody>
      </p:sp>
      <p:sp>
        <p:nvSpPr>
          <p:cNvPr id="28" name="AutoShape 28"/>
          <p:cNvSpPr/>
          <p:nvPr/>
        </p:nvSpPr>
        <p:spPr>
          <a:xfrm>
            <a:off x="4762500" y="5524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采用模型蒸馏与量化技术降低推理延迟；优化并行训练策略，提升模型迭代效率。</a:t>
            </a:r>
            <a:endParaRPr lang="en-US" sz="1100"/>
          </a:p>
        </p:txBody>
      </p:sp>
      <p:sp>
        <p:nvSpPr>
          <p:cNvPr id="29" name="AutoShape 29"/>
          <p:cNvSpPr/>
          <p:nvPr/>
        </p:nvSpPr>
        <p:spPr>
          <a:xfrm>
            <a:off x="8128000" y="1524000"/>
            <a:ext cx="3302000" cy="4826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30" name="AutoShape 30"/>
          <p:cNvSpPr/>
          <p:nvPr/>
        </p:nvSpPr>
        <p:spPr>
          <a:xfrm>
            <a:off x="8318500" y="1714500"/>
            <a:ext cx="609600" cy="609600"/>
          </a:xfrm>
          <a:prstGeom prst="ellipse">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20100" y="1816100"/>
            <a:ext cx="406400" cy="406400"/>
          </a:xfrm>
          <a:prstGeom prst="rect">
            <a:avLst/>
          </a:prstGeom>
        </p:spPr>
      </p:pic>
      <p:sp>
        <p:nvSpPr>
          <p:cNvPr id="32" name="AutoShape 32"/>
          <p:cNvSpPr/>
          <p:nvPr/>
        </p:nvSpPr>
        <p:spPr>
          <a:xfrm>
            <a:off x="9080500" y="18161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业务可行性</a:t>
            </a:r>
            <a:endPar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8318500" y="254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8445500" y="266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可行性分析</a:t>
            </a:r>
            <a:endParaRPr lang="en-US" sz="1100"/>
          </a:p>
        </p:txBody>
      </p:sp>
      <p:sp>
        <p:nvSpPr>
          <p:cNvPr id="35" name="AutoShape 35"/>
          <p:cNvSpPr/>
          <p:nvPr/>
        </p:nvSpPr>
        <p:spPr>
          <a:xfrm>
            <a:off x="8445500" y="304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智能推荐互补品是提升客单价的直接有效手段，完全契合电商平台的核心商业利益。</a:t>
            </a:r>
            <a:endParaRPr lang="en-US" sz="1100"/>
          </a:p>
        </p:txBody>
      </p:sp>
      <p:sp>
        <p:nvSpPr>
          <p:cNvPr id="36" name="AutoShape 36"/>
          <p:cNvSpPr/>
          <p:nvPr/>
        </p:nvSpPr>
        <p:spPr>
          <a:xfrm>
            <a:off x="8318500" y="381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8445500" y="393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潜在风险</a:t>
            </a:r>
            <a:endParaRPr lang="en-US" sz="1100"/>
          </a:p>
        </p:txBody>
      </p:sp>
      <p:sp>
        <p:nvSpPr>
          <p:cNvPr id="38" name="AutoShape 38"/>
          <p:cNvSpPr/>
          <p:nvPr/>
        </p:nvSpPr>
        <p:spPr>
          <a:xfrm>
            <a:off x="8445500" y="431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推荐效果可能不及预期，或过多的推荐干扰用户浏览，对平台主流程产生负面影响。</a:t>
            </a:r>
            <a:endParaRPr lang="en-US" sz="1100"/>
          </a:p>
        </p:txBody>
      </p:sp>
      <p:sp>
        <p:nvSpPr>
          <p:cNvPr id="39" name="AutoShape 39"/>
          <p:cNvSpPr/>
          <p:nvPr/>
        </p:nvSpPr>
        <p:spPr>
          <a:xfrm>
            <a:off x="8318500" y="5080000"/>
            <a:ext cx="2921000" cy="1016000"/>
          </a:xfrm>
          <a:prstGeom prst="roundRect">
            <a:avLst>
              <a:gd name="adj" fmla="val 10000"/>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8445500" y="520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应对策略</a:t>
            </a:r>
            <a:endParaRPr lang="en-US" sz="1100"/>
          </a:p>
        </p:txBody>
      </p:sp>
      <p:sp>
        <p:nvSpPr>
          <p:cNvPr id="41" name="AutoShape 41"/>
          <p:cNvSpPr/>
          <p:nvPr/>
        </p:nvSpPr>
        <p:spPr>
          <a:xfrm>
            <a:off x="8445500" y="5524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严格执行A/B测试与小流量验证机制；设计完善的实时监控体系与快速回滚预案。</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graphicFrame>
        <p:nvGraphicFramePr>
          <p:cNvPr id="42" name="Table 3"/>
          <p:cNvGraphicFramePr>
            <a:graphicFrameLocks noGrp="1"/>
          </p:cNvGraphicFramePr>
          <p:nvPr/>
        </p:nvGraphicFramePr>
        <p:xfrm>
          <a:off x="274320" y="1097280"/>
          <a:ext cx="11643360" cy="3703320"/>
        </p:xfrm>
        <a:graphic>
          <a:graphicData uri="http://schemas.openxmlformats.org/drawingml/2006/table">
            <a:tbl>
              <a:tblPr firstRow="1" bandRow="1">
                <a:tableStyleId>{5C22544A-7EE6-4342-B048-85BDC9FD1C3A}</a:tableStyleId>
              </a:tblPr>
              <a:tblGrid>
                <a:gridCol w="2328672"/>
                <a:gridCol w="2328672"/>
                <a:gridCol w="2328672"/>
                <a:gridCol w="2328672"/>
                <a:gridCol w="2328672"/>
              </a:tblGrid>
              <a:tr h="411480">
                <a:tc>
                  <a:txBody>
                    <a:bodyPr/>
                    <a:p>
                      <a:pPr algn="ctr">
                        <a:defRPr sz="1300" b="1">
                          <a:solidFill>
                            <a:srgbClr val="FFFFFF"/>
                          </a:solidFill>
                        </a:defRPr>
                      </a:pPr>
                      <a:r>
                        <a:t>模块</a:t>
                      </a:r>
                    </a:p>
                  </a:txBody>
                  <a:tcPr>
                    <a:solidFill>
                      <a:srgbClr val="2E75B6"/>
                    </a:solidFill>
                  </a:tcPr>
                </a:tc>
                <a:tc>
                  <a:txBody>
                    <a:bodyPr/>
                    <a:p>
                      <a:pPr algn="ctr">
                        <a:defRPr sz="1300" b="1">
                          <a:solidFill>
                            <a:srgbClr val="FFFFFF"/>
                          </a:solidFill>
                        </a:defRPr>
                      </a:pPr>
                      <a:r>
                        <a:t>文件</a:t>
                      </a:r>
                    </a:p>
                  </a:txBody>
                  <a:tcPr>
                    <a:solidFill>
                      <a:srgbClr val="2E75B6"/>
                    </a:solidFill>
                  </a:tcPr>
                </a:tc>
                <a:tc>
                  <a:txBody>
                    <a:bodyPr/>
                    <a:p>
                      <a:pPr algn="ctr">
                        <a:defRPr sz="1300" b="1">
                          <a:solidFill>
                            <a:srgbClr val="FFFFFF"/>
                          </a:solidFill>
                        </a:defRPr>
                      </a:pPr>
                      <a:r>
                        <a:t>状态</a:t>
                      </a:r>
                    </a:p>
                  </a:txBody>
                  <a:tcPr>
                    <a:solidFill>
                      <a:srgbClr val="2E75B6"/>
                    </a:solidFill>
                  </a:tcPr>
                </a:tc>
                <a:tc>
                  <a:txBody>
                    <a:bodyPr/>
                    <a:p>
                      <a:pPr algn="ctr">
                        <a:defRPr sz="1300" b="1">
                          <a:solidFill>
                            <a:srgbClr val="FFFFFF"/>
                          </a:solidFill>
                        </a:defRPr>
                      </a:pPr>
                      <a:r>
                        <a:t>完成度</a:t>
                      </a:r>
                    </a:p>
                  </a:txBody>
                  <a:tcPr>
                    <a:solidFill>
                      <a:srgbClr val="2E75B6"/>
                    </a:solidFill>
                  </a:tcPr>
                </a:tc>
                <a:tc>
                  <a:txBody>
                    <a:bodyPr/>
                    <a:p>
                      <a:pPr algn="ctr">
                        <a:defRPr sz="1300" b="1">
                          <a:solidFill>
                            <a:srgbClr val="FFFFFF"/>
                          </a:solidFill>
                        </a:defRPr>
                      </a:pPr>
                      <a:r>
                        <a:t>说明</a:t>
                      </a:r>
                    </a:p>
                  </a:txBody>
                  <a:tcPr>
                    <a:solidFill>
                      <a:srgbClr val="2E75B6"/>
                    </a:solidFill>
                  </a:tcPr>
                </a:tc>
              </a:tr>
              <a:tr h="411480">
                <a:tc>
                  <a:txBody>
                    <a:bodyPr/>
                    <a:p>
                      <a:pPr algn="l">
                        <a:defRPr sz="1200">
                          <a:solidFill>
                            <a:srgbClr val="000000"/>
                          </a:solidFill>
                        </a:defRPr>
                      </a:pPr>
                      <a:r>
                        <a:t>数据管线</a:t>
                      </a:r>
                    </a:p>
                  </a:txBody>
                  <a:tcPr>
                    <a:solidFill>
                      <a:srgbClr val="F2F2F2"/>
                    </a:solidFill>
                  </a:tcPr>
                </a:tc>
                <a:tc>
                  <a:txBody>
                    <a:bodyPr/>
                    <a:p>
                      <a:pPr algn="l">
                        <a:defRPr sz="1200">
                          <a:solidFill>
                            <a:srgbClr val="000000"/>
                          </a:solidFill>
                        </a:defRPr>
                      </a:pPr>
                      <a:r>
                        <a:t>generate_mock_data.py / preprocess.py</a:t>
                      </a:r>
                    </a:p>
                  </a:txBody>
                  <a:tcPr>
                    <a:solidFill>
                      <a:srgbClr val="F2F2F2"/>
                    </a:solidFill>
                  </a:tcPr>
                </a:tc>
                <a:tc>
                  <a:txBody>
                    <a:bodyPr/>
                    <a:p>
                      <a:pPr algn="l">
                        <a:defRPr sz="1200">
                          <a:solidFill>
                            <a:srgbClr val="000000"/>
                          </a:solidFill>
                        </a:defRPr>
                      </a:pPr>
                      <a:r>
                        <a:t>✅ 代码完成</a:t>
                      </a:r>
                    </a:p>
                  </a:txBody>
                  <a:tcPr>
                    <a:solidFill>
                      <a:srgbClr val="F2F2F2"/>
                    </a:solidFill>
                  </a:tcPr>
                </a:tc>
                <a:tc>
                  <a:txBody>
                    <a:bodyPr/>
                    <a:p>
                      <a:pPr algn="l">
                        <a:defRPr sz="1200">
                          <a:solidFill>
                            <a:srgbClr val="000000"/>
                          </a:solidFill>
                        </a:defRPr>
                      </a:pPr>
                      <a:r>
                        <a:t>80%</a:t>
                      </a:r>
                    </a:p>
                  </a:txBody>
                  <a:tcPr>
                    <a:solidFill>
                      <a:srgbClr val="F2F2F2"/>
                    </a:solidFill>
                  </a:tcPr>
                </a:tc>
                <a:tc>
                  <a:txBody>
                    <a:bodyPr/>
                    <a:p>
                      <a:pPr algn="l">
                        <a:defRPr sz="1200">
                          <a:solidFill>
                            <a:srgbClr val="000000"/>
                          </a:solidFill>
                        </a:defRPr>
                      </a:pPr>
                      <a:r>
                        <a:t>数据目录为空，需先运行流水线</a:t>
                      </a:r>
                    </a:p>
                  </a:txBody>
                  <a:tcPr>
                    <a:solidFill>
                      <a:srgbClr val="F2F2F2"/>
                    </a:solidFill>
                  </a:tcPr>
                </a:tc>
              </a:tr>
              <a:tr h="411480">
                <a:tc>
                  <a:txBody>
                    <a:bodyPr/>
                    <a:p>
                      <a:pPr algn="l">
                        <a:defRPr sz="1200">
                          <a:solidFill>
                            <a:srgbClr val="000000"/>
                          </a:solidFill>
                        </a:defRPr>
                      </a:pPr>
                      <a:r>
                        <a:t>SASRec 基线</a:t>
                      </a:r>
                    </a:p>
                  </a:txBody>
                  <a:tcPr/>
                </a:tc>
                <a:tc>
                  <a:txBody>
                    <a:bodyPr/>
                    <a:p>
                      <a:pPr algn="l">
                        <a:defRPr sz="1200">
                          <a:solidFill>
                            <a:srgbClr val="000000"/>
                          </a:solidFill>
                        </a:defRPr>
                      </a:pPr>
                      <a:r>
                        <a:t>models/sasrec/model.py + train_sasrec.py</a:t>
                      </a:r>
                    </a:p>
                  </a:txBody>
                  <a:tcPr/>
                </a:tc>
                <a:tc>
                  <a:txBody>
                    <a:bodyPr/>
                    <a:p>
                      <a:pPr algn="l">
                        <a:defRPr sz="1200">
                          <a:solidFill>
                            <a:srgbClr val="000000"/>
                          </a:solidFill>
                        </a:defRPr>
                      </a:pPr>
                      <a:r>
                        <a:t>✅ 代码完成</a:t>
                      </a:r>
                    </a:p>
                  </a:txBody>
                  <a:tcPr/>
                </a:tc>
                <a:tc>
                  <a:txBody>
                    <a:bodyPr/>
                    <a:p>
                      <a:pPr algn="l">
                        <a:defRPr sz="1200">
                          <a:solidFill>
                            <a:srgbClr val="000000"/>
                          </a:solidFill>
                        </a:defRPr>
                      </a:pPr>
                      <a:r>
                        <a:t>90%</a:t>
                      </a:r>
                    </a:p>
                  </a:txBody>
                  <a:tcPr/>
                </a:tc>
                <a:tc>
                  <a:txBody>
                    <a:bodyPr/>
                    <a:p>
                      <a:pPr algn="l">
                        <a:defRPr sz="1200">
                          <a:solidFill>
                            <a:srgbClr val="000000"/>
                          </a:solidFill>
                        </a:defRPr>
                      </a:pPr>
                      <a:r>
                        <a:t>未训练，checkpoints 为空</a:t>
                      </a:r>
                    </a:p>
                  </a:txBody>
                  <a:tcPr/>
                </a:tc>
              </a:tr>
              <a:tr h="411480">
                <a:tc>
                  <a:txBody>
                    <a:bodyPr/>
                    <a:p>
                      <a:pPr algn="l">
                        <a:defRPr sz="1200">
                          <a:solidFill>
                            <a:srgbClr val="000000"/>
                          </a:solidFill>
                        </a:defRPr>
                      </a:pPr>
                      <a:r>
                        <a:t>minGPT 生成模型</a:t>
                      </a:r>
                    </a:p>
                  </a:txBody>
                  <a:tcPr>
                    <a:solidFill>
                      <a:srgbClr val="F2F2F2"/>
                    </a:solidFill>
                  </a:tcPr>
                </a:tc>
                <a:tc>
                  <a:txBody>
                    <a:bodyPr/>
                    <a:p>
                      <a:pPr algn="l">
                        <a:defRPr sz="1200">
                          <a:solidFill>
                            <a:srgbClr val="000000"/>
                          </a:solidFill>
                        </a:defRPr>
                      </a:pPr>
                      <a:r>
                        <a:t>models/mingpt/model.py + trainer.py + decode.py</a:t>
                      </a:r>
                    </a:p>
                  </a:txBody>
                  <a:tcPr>
                    <a:solidFill>
                      <a:srgbClr val="F2F2F2"/>
                    </a:solidFill>
                  </a:tcPr>
                </a:tc>
                <a:tc>
                  <a:txBody>
                    <a:bodyPr/>
                    <a:p>
                      <a:pPr algn="l">
                        <a:defRPr sz="1200">
                          <a:solidFill>
                            <a:srgbClr val="000000"/>
                          </a:solidFill>
                        </a:defRPr>
                      </a:pPr>
                      <a:r>
                        <a:t>✅ 代码完成</a:t>
                      </a:r>
                    </a:p>
                  </a:txBody>
                  <a:tcPr>
                    <a:solidFill>
                      <a:srgbClr val="F2F2F2"/>
                    </a:solidFill>
                  </a:tcPr>
                </a:tc>
                <a:tc>
                  <a:txBody>
                    <a:bodyPr/>
                    <a:p>
                      <a:pPr algn="l">
                        <a:defRPr sz="1200">
                          <a:solidFill>
                            <a:srgbClr val="000000"/>
                          </a:solidFill>
                        </a:defRPr>
                      </a:pPr>
                      <a:r>
                        <a:t>85%</a:t>
                      </a:r>
                    </a:p>
                  </a:txBody>
                  <a:tcPr>
                    <a:solidFill>
                      <a:srgbClr val="F2F2F2"/>
                    </a:solidFill>
                  </a:tcPr>
                </a:tc>
                <a:tc>
                  <a:txBody>
                    <a:bodyPr/>
                    <a:p>
                      <a:pPr algn="l">
                        <a:defRPr sz="1200">
                          <a:solidFill>
                            <a:srgbClr val="000000"/>
                          </a:solidFill>
                        </a:defRPr>
                      </a:pPr>
                      <a:r>
                        <a:t>存在 beam search 多样性 bug</a:t>
                      </a:r>
                    </a:p>
                  </a:txBody>
                  <a:tcPr>
                    <a:solidFill>
                      <a:srgbClr val="F2F2F2"/>
                    </a:solidFill>
                  </a:tcPr>
                </a:tc>
              </a:tr>
              <a:tr h="411480">
                <a:tc>
                  <a:txBody>
                    <a:bodyPr/>
                    <a:p>
                      <a:pPr algn="l">
                        <a:defRPr sz="1200">
                          <a:solidFill>
                            <a:srgbClr val="000000"/>
                          </a:solidFill>
                        </a:defRPr>
                      </a:pPr>
                      <a:r>
                        <a:t>推理服务</a:t>
                      </a:r>
                    </a:p>
                  </a:txBody>
                  <a:tcPr/>
                </a:tc>
                <a:tc>
                  <a:txBody>
                    <a:bodyPr/>
                    <a:p>
                      <a:pPr algn="l">
                        <a:defRPr sz="1200">
                          <a:solidFill>
                            <a:srgbClr val="000000"/>
                          </a:solidFill>
                        </a:defRPr>
                      </a:pPr>
                      <a:r>
                        <a:t>services/inference.py + reason.py</a:t>
                      </a:r>
                    </a:p>
                  </a:txBody>
                  <a:tcPr/>
                </a:tc>
                <a:tc>
                  <a:txBody>
                    <a:bodyPr/>
                    <a:p>
                      <a:pPr algn="l">
                        <a:defRPr sz="1200">
                          <a:solidFill>
                            <a:srgbClr val="000000"/>
                          </a:solidFill>
                        </a:defRPr>
                      </a:pPr>
                      <a:r>
                        <a:t>✅ 代码完成</a:t>
                      </a:r>
                    </a:p>
                  </a:txBody>
                  <a:tcPr/>
                </a:tc>
                <a:tc>
                  <a:txBody>
                    <a:bodyPr/>
                    <a:p>
                      <a:pPr algn="l">
                        <a:defRPr sz="1200">
                          <a:solidFill>
                            <a:srgbClr val="000000"/>
                          </a:solidFill>
                        </a:defRPr>
                      </a:pPr>
                      <a:r>
                        <a:t>85%</a:t>
                      </a:r>
                    </a:p>
                  </a:txBody>
                  <a:tcPr/>
                </a:tc>
                <a:tc>
                  <a:txBody>
                    <a:bodyPr/>
                    <a:p>
                      <a:pPr algn="l">
                        <a:defRPr sz="1200">
                          <a:solidFill>
                            <a:srgbClr val="000000"/>
                          </a:solidFill>
                        </a:defRPr>
                      </a:pPr>
                      <a:r>
                        <a:t>静默降级，理由模板仅 5 个类目对</a:t>
                      </a:r>
                    </a:p>
                  </a:txBody>
                  <a:tcPr/>
                </a:tc>
              </a:tr>
              <a:tr h="411480">
                <a:tc>
                  <a:txBody>
                    <a:bodyPr/>
                    <a:p>
                      <a:pPr algn="l">
                        <a:defRPr sz="1200">
                          <a:solidFill>
                            <a:srgbClr val="000000"/>
                          </a:solidFill>
                        </a:defRPr>
                      </a:pPr>
                      <a:r>
                        <a:t>评估脚本</a:t>
                      </a:r>
                    </a:p>
                  </a:txBody>
                  <a:tcPr>
                    <a:solidFill>
                      <a:srgbClr val="F2F2F2"/>
                    </a:solidFill>
                  </a:tcPr>
                </a:tc>
                <a:tc>
                  <a:txBody>
                    <a:bodyPr/>
                    <a:p>
                      <a:pPr algn="l">
                        <a:defRPr sz="1200">
                          <a:solidFill>
                            <a:srgbClr val="000000"/>
                          </a:solidFill>
                        </a:defRPr>
                      </a:pPr>
                      <a:r>
                        <a:t>scripts/eval.py</a:t>
                      </a:r>
                    </a:p>
                  </a:txBody>
                  <a:tcPr>
                    <a:solidFill>
                      <a:srgbClr val="F2F2F2"/>
                    </a:solidFill>
                  </a:tcPr>
                </a:tc>
                <a:tc>
                  <a:txBody>
                    <a:bodyPr/>
                    <a:p>
                      <a:pPr algn="l">
                        <a:defRPr sz="1200">
                          <a:solidFill>
                            <a:srgbClr val="000000"/>
                          </a:solidFill>
                        </a:defRPr>
                      </a:pPr>
                      <a:r>
                        <a:t>✅ 代码完成</a:t>
                      </a:r>
                    </a:p>
                  </a:txBody>
                  <a:tcPr>
                    <a:solidFill>
                      <a:srgbClr val="F2F2F2"/>
                    </a:solidFill>
                  </a:tcPr>
                </a:tc>
                <a:tc>
                  <a:txBody>
                    <a:bodyPr/>
                    <a:p>
                      <a:pPr algn="l">
                        <a:defRPr sz="1200">
                          <a:solidFill>
                            <a:srgbClr val="000000"/>
                          </a:solidFill>
                        </a:defRPr>
                      </a:pPr>
                      <a:r>
                        <a:t>90%</a:t>
                      </a:r>
                    </a:p>
                  </a:txBody>
                  <a:tcPr>
                    <a:solidFill>
                      <a:srgbClr val="F2F2F2"/>
                    </a:solidFill>
                  </a:tcPr>
                </a:tc>
                <a:tc>
                  <a:txBody>
                    <a:bodyPr/>
                    <a:p>
                      <a:pPr algn="l">
                        <a:defRPr sz="1200">
                          <a:solidFill>
                            <a:srgbClr val="000000"/>
                          </a:solidFill>
                        </a:defRPr>
                      </a:pPr>
                      <a:r>
                        <a:t>硬编码评测上限 100 条，未执行</a:t>
                      </a:r>
                    </a:p>
                  </a:txBody>
                  <a:tcPr>
                    <a:solidFill>
                      <a:srgbClr val="F2F2F2"/>
                    </a:solidFill>
                  </a:tcPr>
                </a:tc>
              </a:tr>
              <a:tr h="411480">
                <a:tc>
                  <a:txBody>
                    <a:bodyPr/>
                    <a:p>
                      <a:pPr algn="l">
                        <a:defRPr sz="1200">
                          <a:solidFill>
                            <a:srgbClr val="000000"/>
                          </a:solidFill>
                        </a:defRPr>
                      </a:pPr>
                      <a:r>
                        <a:t>FastAPI</a:t>
                      </a:r>
                    </a:p>
                  </a:txBody>
                  <a:tcPr/>
                </a:tc>
                <a:tc>
                  <a:txBody>
                    <a:bodyPr/>
                    <a:p>
                      <a:pPr algn="l">
                        <a:defRPr sz="1200">
                          <a:solidFill>
                            <a:srgbClr val="000000"/>
                          </a:solidFill>
                        </a:defRPr>
                      </a:pPr>
                      <a:r>
                        <a:t>app.py</a:t>
                      </a:r>
                    </a:p>
                  </a:txBody>
                  <a:tcPr/>
                </a:tc>
                <a:tc>
                  <a:txBody>
                    <a:bodyPr/>
                    <a:p>
                      <a:pPr algn="l">
                        <a:defRPr sz="1200">
                          <a:solidFill>
                            <a:srgbClr val="000000"/>
                          </a:solidFill>
                        </a:defRPr>
                      </a:pPr>
                      <a:r>
                        <a:t>✅ 代码完成</a:t>
                      </a:r>
                    </a:p>
                  </a:txBody>
                  <a:tcPr/>
                </a:tc>
                <a:tc>
                  <a:txBody>
                    <a:bodyPr/>
                    <a:p>
                      <a:pPr algn="l">
                        <a:defRPr sz="1200">
                          <a:solidFill>
                            <a:srgbClr val="000000"/>
                          </a:solidFill>
                        </a:defRPr>
                      </a:pPr>
                      <a:r>
                        <a:t>90%</a:t>
                      </a:r>
                    </a:p>
                  </a:txBody>
                  <a:tcPr/>
                </a:tc>
                <a:tc>
                  <a:txBody>
                    <a:bodyPr/>
                    <a:p>
                      <a:pPr algn="l">
                        <a:defRPr sz="1200">
                          <a:solidFill>
                            <a:srgbClr val="000000"/>
                          </a:solidFill>
                        </a:defRPr>
                      </a:pPr>
                      <a:r>
                        <a:t>4 个接口正常，含 CORS</a:t>
                      </a:r>
                    </a:p>
                  </a:txBody>
                  <a:tcPr/>
                </a:tc>
              </a:tr>
              <a:tr h="411480">
                <a:tc>
                  <a:txBody>
                    <a:bodyPr/>
                    <a:p>
                      <a:pPr algn="l">
                        <a:defRPr sz="1200">
                          <a:solidFill>
                            <a:srgbClr val="000000"/>
                          </a:solidFill>
                        </a:defRPr>
                      </a:pPr>
                      <a:r>
                        <a:t>Vue 前端</a:t>
                      </a:r>
                    </a:p>
                  </a:txBody>
                  <a:tcPr>
                    <a:solidFill>
                      <a:srgbClr val="F2F2F2"/>
                    </a:solidFill>
                  </a:tcPr>
                </a:tc>
                <a:tc>
                  <a:txBody>
                    <a:bodyPr/>
                    <a:p>
                      <a:pPr algn="l">
                        <a:defRPr sz="1200">
                          <a:solidFill>
                            <a:srgbClr val="000000"/>
                          </a:solidFill>
                        </a:defRPr>
                      </a:pPr>
                      <a:r>
                        <a:t>frontend/src/App.vue</a:t>
                      </a:r>
                    </a:p>
                  </a:txBody>
                  <a:tcPr>
                    <a:solidFill>
                      <a:srgbClr val="F2F2F2"/>
                    </a:solidFill>
                  </a:tcPr>
                </a:tc>
                <a:tc>
                  <a:txBody>
                    <a:bodyPr/>
                    <a:p>
                      <a:pPr algn="l">
                        <a:defRPr sz="1200">
                          <a:solidFill>
                            <a:srgbClr val="000000"/>
                          </a:solidFill>
                        </a:defRPr>
                      </a:pPr>
                      <a:r>
                        <a:t>✅ 基础完成</a:t>
                      </a:r>
                    </a:p>
                  </a:txBody>
                  <a:tcPr>
                    <a:solidFill>
                      <a:srgbClr val="F2F2F2"/>
                    </a:solidFill>
                  </a:tcPr>
                </a:tc>
                <a:tc>
                  <a:txBody>
                    <a:bodyPr/>
                    <a:p>
                      <a:pPr algn="l">
                        <a:defRPr sz="1200">
                          <a:solidFill>
                            <a:srgbClr val="000000"/>
                          </a:solidFill>
                        </a:defRPr>
                      </a:pPr>
                      <a:r>
                        <a:t>70%</a:t>
                      </a:r>
                    </a:p>
                  </a:txBody>
                  <a:tcPr>
                    <a:solidFill>
                      <a:srgbClr val="F2F2F2"/>
                    </a:solidFill>
                  </a:tcPr>
                </a:tc>
                <a:tc>
                  <a:txBody>
                    <a:bodyPr/>
                    <a:p>
                      <a:pPr algn="l">
                        <a:defRPr sz="1200">
                          <a:solidFill>
                            <a:srgbClr val="000000"/>
                          </a:solidFill>
                        </a:defRPr>
                      </a:pPr>
                      <a:r>
                        <a:t>缺少对比视图、指标仪表盘、商品图片</a:t>
                      </a:r>
                    </a:p>
                  </a:txBody>
                  <a:tcPr>
                    <a:solidFill>
                      <a:srgbClr val="F2F2F2"/>
                    </a:solidFill>
                  </a:tcPr>
                </a:tc>
              </a:tr>
              <a:tr h="411480">
                <a:tc>
                  <a:txBody>
                    <a:bodyPr/>
                    <a:p>
                      <a:pPr algn="l">
                        <a:defRPr sz="1200">
                          <a:solidFill>
                            <a:srgbClr val="000000"/>
                          </a:solidFill>
                        </a:defRPr>
                      </a:pPr>
                      <a:r>
                        <a:t>基础设施</a:t>
                      </a:r>
                    </a:p>
                  </a:txBody>
                  <a:tcPr/>
                </a:tc>
                <a:tc>
                  <a:txBody>
                    <a:bodyPr/>
                    <a:p>
                      <a:pPr algn="l">
                        <a:defRPr sz="1200">
                          <a:solidFill>
                            <a:srgbClr val="000000"/>
                          </a:solidFill>
                        </a:defRPr>
                      </a:pPr>
                      <a:r>
                        <a:t>config.py + run_pipeline.py + requirements.txt</a:t>
                      </a:r>
                    </a:p>
                  </a:txBody>
                  <a:tcPr/>
                </a:tc>
                <a:tc>
                  <a:txBody>
                    <a:bodyPr/>
                    <a:p>
                      <a:pPr algn="l">
                        <a:defRPr sz="1200">
                          <a:solidFill>
                            <a:srgbClr val="000000"/>
                          </a:solidFill>
                        </a:defRPr>
                      </a:pPr>
                      <a:r>
                        <a:t>✅ 完整</a:t>
                      </a:r>
                    </a:p>
                  </a:txBody>
                  <a:tcPr/>
                </a:tc>
                <a:tc>
                  <a:txBody>
                    <a:bodyPr/>
                    <a:p>
                      <a:pPr algn="l">
                        <a:defRPr sz="1200">
                          <a:solidFill>
                            <a:srgbClr val="000000"/>
                          </a:solidFill>
                        </a:defRPr>
                      </a:pPr>
                      <a:r>
                        <a:t>95%</a:t>
                      </a:r>
                    </a:p>
                  </a:txBody>
                  <a:tcPr/>
                </a:tc>
                <a:tc>
                  <a:txBody>
                    <a:bodyPr/>
                    <a:p>
                      <a:pPr algn="l">
                        <a:defRPr sz="1200">
                          <a:solidFill>
                            <a:srgbClr val="000000"/>
                          </a:solidFill>
                        </a:defRPr>
                      </a:pPr>
                      <a:r>
                        <a:t>配置中心、流水线脚本、依赖管理</a:t>
                      </a:r>
                    </a:p>
                  </a:txBody>
                  <a:tcPr/>
                </a:tc>
              </a:tr>
            </a:tbl>
          </a:graphicData>
        </a:graphic>
      </p:graphicFrame>
      <p:sp>
        <p:nvSpPr>
          <p:cNvPr id="44" name="TextBox 2"/>
          <p:cNvSpPr txBox="1"/>
          <p:nvPr/>
        </p:nvSpPr>
        <p:spPr>
          <a:xfrm>
            <a:off x="274320" y="296037"/>
            <a:ext cx="2685415" cy="521970"/>
          </a:xfrm>
          <a:prstGeom prst="rect">
            <a:avLst/>
          </a:prstGeom>
          <a:noFill/>
        </p:spPr>
        <p:txBody>
          <a:bodyPr wrap="none">
            <a:spAutoFit/>
          </a:bodyPr>
          <a:p>
            <a:pPr>
              <a:defRPr sz="2800" b="1">
                <a:solidFill>
                  <a:srgbClr val="FFFFFF"/>
                </a:solidFill>
              </a:defRPr>
            </a:pPr>
            <a:r>
              <a:t>已完成模块分析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43" name="TextBox 2"/>
          <p:cNvSpPr txBox="1"/>
          <p:nvPr/>
        </p:nvSpPr>
        <p:spPr>
          <a:xfrm>
            <a:off x="274320" y="164592"/>
            <a:ext cx="10972800" cy="685800"/>
          </a:xfrm>
          <a:prstGeom prst="rect">
            <a:avLst/>
          </a:prstGeom>
          <a:noFill/>
        </p:spPr>
        <p:txBody>
          <a:bodyPr wrap="none">
            <a:spAutoFit/>
          </a:bodyPr>
          <a:p>
            <a:pPr>
              <a:defRPr sz="2800" b="1">
                <a:solidFill>
                  <a:srgbClr val="FFFFFF"/>
                </a:solidFill>
              </a:defRPr>
            </a:pPr>
            <a:r>
              <a:t>二、待完成任务清单</a:t>
            </a:r>
          </a:p>
        </p:txBody>
      </p:sp>
      <p:sp>
        <p:nvSpPr>
          <p:cNvPr id="44" name="TextBox 3"/>
          <p:cNvSpPr txBox="1"/>
          <p:nvPr/>
        </p:nvSpPr>
        <p:spPr>
          <a:xfrm>
            <a:off x="274320" y="1097280"/>
            <a:ext cx="11643360" cy="4846320"/>
          </a:xfrm>
          <a:prstGeom prst="rect">
            <a:avLst/>
          </a:prstGeom>
          <a:noFill/>
        </p:spPr>
        <p:txBody>
          <a:bodyPr wrap="square">
            <a:spAutoFit/>
          </a:bodyPr>
          <a:p>
            <a:pPr>
              <a:spcBef>
                <a:spcPts val="400"/>
              </a:spcBef>
              <a:spcAft>
                <a:spcPts val="200"/>
              </a:spcAft>
            </a:pPr>
            <a:r>
              <a:rPr sz="1600" b="1">
                <a:solidFill>
                  <a:srgbClr val="2E75B6"/>
                </a:solidFill>
              </a:rPr>
              <a:t>■ P0 必须完成（影响核心交付）</a:t>
            </a:r>
            <a:endParaRPr sz="1600" b="1">
              <a:solidFill>
                <a:srgbClr val="2E75B6"/>
              </a:solidFill>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① 生成 Mock 数据并运行全量数据管线（data/ 目录为空）</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② 训练 SASRec 基线模型 → checkpoints/sasrec.pth</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③ 训练 minGPT 生成式模型 → checkpoints/mingpt.pth</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④ 运行离线评估，验证 HR@10 提升 ≥5%（验收标准）</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⑤ 修复 constrained_beam_search 的多样性 bug（每个 beam 共享 top-k）</a:t>
            </a:r>
            <a:endParaRPr sz="1450">
              <a:solidFill>
                <a:srgbClr val="595959"/>
              </a:solidFill>
            </a:endParaRPr>
          </a:p>
          <a:p>
            <a:pPr>
              <a:spcBef>
                <a:spcPts val="400"/>
              </a:spcBef>
              <a:spcAft>
                <a:spcPts val="200"/>
              </a:spcAft>
            </a:pPr>
            <a:r>
              <a:rPr sz="1600">
                <a:solidFill>
                  <a:srgbClr val="000000"/>
                </a:solidFill>
              </a:rPr>
              <a:t> </a:t>
            </a:r>
            <a:endParaRPr sz="1600">
              <a:solidFill>
                <a:srgbClr val="000000"/>
              </a:solidFill>
            </a:endParaRPr>
          </a:p>
          <a:p>
            <a:pPr>
              <a:spcBef>
                <a:spcPts val="400"/>
              </a:spcBef>
              <a:spcAft>
                <a:spcPts val="200"/>
              </a:spcAft>
            </a:pPr>
            <a:r>
              <a:rPr sz="1600" b="1">
                <a:solidFill>
                  <a:srgbClr val="2E75B6"/>
                </a:solidFill>
              </a:rPr>
              <a:t>■ P1 应该完成（提升完成度）</a:t>
            </a:r>
            <a:endParaRPr sz="1600" b="1">
              <a:solidFill>
                <a:srgbClr val="2E75B6"/>
              </a:solidFill>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⑥ 扩充理由模板库（当前仅 5 个类目对，目标覆盖 80%+）</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⑦ 增加 TensorBoard / Wandb 训练监控</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⑧ 增加基于验证集 HR@10 的早停策略</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⑨ 将评估样本上限从 100 条提升至完整测试集</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a:spcBef>
                <a:spcPts val="400"/>
              </a:spcBef>
              <a:spcAft>
                <a:spcPts val="200"/>
              </a:spcAft>
            </a:pPr>
            <a:r>
              <a:rPr sz="1600">
                <a:solidFill>
                  <a:srgbClr val="000000"/>
                </a:solidFill>
              </a:rPr>
              <a:t> </a:t>
            </a:r>
            <a:endParaRPr sz="1600">
              <a:solidFill>
                <a:srgbClr val="000000"/>
              </a:solidFill>
            </a:endParaRPr>
          </a:p>
          <a:p>
            <a:pPr>
              <a:spcBef>
                <a:spcPts val="400"/>
              </a:spcBef>
              <a:spcAft>
                <a:spcPts val="200"/>
              </a:spcAft>
            </a:pPr>
            <a:r>
              <a:rPr sz="1600" b="1">
                <a:solidFill>
                  <a:srgbClr val="2E75B6"/>
                </a:solidFill>
              </a:rPr>
              <a:t>■ P2 建议完成（精进方向）</a:t>
            </a:r>
            <a:endParaRPr sz="1600" b="1">
              <a:solidFill>
                <a:srgbClr val="2E75B6"/>
              </a:solidFill>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⑩ 前端增加三模型（SASRec / minGPT / minGPT+约束）对比视图</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⑪ 增加训练进度展示与评估指标仪表盘</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pPr lvl="1">
              <a:spcBef>
                <a:spcPts val="400"/>
              </a:spcBef>
              <a:spcAft>
                <a:spcPts val="200"/>
              </a:spcAft>
            </a:pPr>
            <a:r>
              <a:rPr sz="1450">
                <a:ln w="10160">
                  <a:solidFill>
                    <a:schemeClr val="accent5"/>
                  </a:solidFill>
                  <a:prstDash val="solid"/>
                </a:ln>
                <a:solidFill>
                  <a:srgbClr val="FFFFFF"/>
                </a:solidFill>
                <a:effectLst>
                  <a:outerShdw blurRad="38100" dist="22860" dir="5400000" algn="tl" rotWithShape="0">
                    <a:srgbClr val="000000">
                      <a:alpha val="30000"/>
                    </a:srgbClr>
                  </a:outerShdw>
                </a:effectLst>
              </a:rPr>
              <a:t>⑫ Docker 部署 + YAML 配置管理 + 分层日志系统</a:t>
            </a:r>
            <a:endParaRPr sz="145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45" name="TextBox 4"/>
          <p:cNvSpPr txBox="1"/>
          <p:nvPr/>
        </p:nvSpPr>
        <p:spPr>
          <a:xfrm>
            <a:off x="274320" y="6583680"/>
            <a:ext cx="10972800" cy="365760"/>
          </a:xfrm>
          <a:prstGeom prst="rect">
            <a:avLst/>
          </a:prstGeom>
          <a:noFill/>
        </p:spPr>
        <p:txBody>
          <a:bodyPr wrap="none">
            <a:spAutoFit/>
          </a:bodyPr>
          <a:p>
            <a:pPr>
              <a:defRPr sz="1000" i="1">
                <a:solidFill>
                  <a:srgbClr val="595959"/>
                </a:solidFill>
              </a:defRPr>
            </a:pPr>
            <a:r>
              <a:t>优先级排序：P0 &gt; P1 &gt; P2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159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4" name="AutoShape 4"/>
          <p:cNvSpPr/>
          <p:nvPr/>
        </p:nvSpPr>
        <p:spPr>
          <a:xfrm>
            <a:off x="0" y="3683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5" name="AutoShape 5"/>
          <p:cNvSpPr/>
          <p:nvPr/>
        </p:nvSpPr>
        <p:spPr>
          <a:xfrm>
            <a:off x="5461000" y="4699000"/>
            <a:ext cx="1270000" cy="50800"/>
          </a:xfrm>
          <a:prstGeom prst="roundRect">
            <a:avLst>
              <a:gd name="adj" fmla="val 5000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207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FOR WATCHING &amp; LISTENING</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40,&quot;left&quot;:60,&quot;top&quot;:130,&quot;width&quot;:840}"/>
</p:tagLst>
</file>

<file path=ppt/tags/tag2.xml><?xml version="1.0" encoding="utf-8"?>
<p:tagLst xmlns:p="http://schemas.openxmlformats.org/presentationml/2006/main">
  <p:tag name="KSO_WM_DIAGRAM_VIRTUALLY_FRAME" val="{&quot;height&quot;:340,&quot;left&quot;:60,&quot;top&quot;:130,&quot;width&quot;:840}"/>
</p:tagLst>
</file>

<file path=ppt/tags/tag3.xml><?xml version="1.0" encoding="utf-8"?>
<p:tagLst xmlns:p="http://schemas.openxmlformats.org/presentationml/2006/main">
  <p:tag name="KSO_WM_DIAGRAM_VIRTUALLY_FRAME" val="{&quot;height&quot;:340,&quot;left&quot;:60,&quot;top&quot;:130,&quot;width&quot;:840}"/>
</p:tagLst>
</file>

<file path=ppt/tags/tag4.xml><?xml version="1.0" encoding="utf-8"?>
<p:tagLst xmlns:p="http://schemas.openxmlformats.org/presentationml/2006/main">
  <p:tag name="KSO_WM_DIAGRAM_VIRTUALLY_FRAME" val="{&quot;height&quot;:340,&quot;left&quot;:60,&quot;top&quot;:130,&quot;width&quot;:840}"/>
</p:tagLst>
</file>

<file path=ppt/tags/tag5.xml><?xml version="1.0" encoding="utf-8"?>
<p:tagLst xmlns:p="http://schemas.openxmlformats.org/presentationml/2006/main">
  <p:tag name="KSO_WM_DIAGRAM_VIRTUALLY_FRAME" val="{&quot;height&quot;:340,&quot;left&quot;:60,&quot;top&quot;:130,&quot;width&quot;:840}"/>
</p:tagLst>
</file>

<file path=ppt/tags/tag6.xml><?xml version="1.0" encoding="utf-8"?>
<p:tagLst xmlns:p="http://schemas.openxmlformats.org/presentationml/2006/main">
  <p:tag name="KSO_WM_DIAGRAM_VIRTUALLY_FRAME" val="{&quot;height&quot;:340,&quot;left&quot;:60,&quot;top&quot;:130,&quot;width&quot;:840}"/>
</p:tagLst>
</file>

<file path=ppt/tags/tag7.xml><?xml version="1.0" encoding="utf-8"?>
<p:tagLst xmlns:p="http://schemas.openxmlformats.org/presentationml/2006/main">
  <p:tag name="KSO_WM_DIAGRAM_VIRTUALLY_FRAME" val="{&quot;height&quot;:340,&quot;left&quot;:60,&quot;top&quot;:130,&quot;width&quot;:840}"/>
</p:tagLst>
</file>

<file path=ppt/tags/tag8.xml><?xml version="1.0" encoding="utf-8"?>
<p:tagLst xmlns:p="http://schemas.openxmlformats.org/presentationml/2006/main">
  <p:tag name="KSO_WM_DIAGRAM_VIRTUALLY_FRAME" val="{&quot;height&quot;:340,&quot;left&quot;:60,&quot;top&quot;:130,&quot;width&quot;:840}"/>
</p:tagLst>
</file>

<file path=ppt/tags/tag9.xml><?xml version="1.0" encoding="utf-8"?>
<p:tagLst xmlns:p="http://schemas.openxmlformats.org/presentationml/2006/main">
  <p:tag name="KSO_WM_DIAGRAM_VIRTUALLY_FRAME" val="{&quot;height&quot;:340,&quot;left&quot;:60,&quot;top&quot;:130,&quot;width&quot;:840}"/>
</p:tagLst>
</file>

<file path=ppt/tags/tag10.xml><?xml version="1.0" encoding="utf-8"?>
<p:tagLst xmlns:p="http://schemas.openxmlformats.org/presentationml/2006/main">
  <p:tag name="KSO_WM_DIAGRAM_VIRTUALLY_FRAME" val="{&quot;height&quot;:340,&quot;left&quot;:60,&quot;top&quot;:130,&quot;width&quot;:840}"/>
</p:tagLst>
</file>

<file path=ppt/tags/tag11.xml><?xml version="1.0" encoding="utf-8"?>
<p:tagLst xmlns:p="http://schemas.openxmlformats.org/presentationml/2006/main">
  <p:tag name="KSO_WM_DIAGRAM_VIRTUALLY_FRAME" val="{&quot;height&quot;:340,&quot;left&quot;:60,&quot;top&quot;:130,&quot;width&quot;:840}"/>
</p:tagLst>
</file>

<file path=ppt/tags/tag12.xml><?xml version="1.0" encoding="utf-8"?>
<p:tagLst xmlns:p="http://schemas.openxmlformats.org/presentationml/2006/main">
  <p:tag name="KSO_WM_DIAGRAM_VIRTUALLY_FRAME" val="{&quot;height&quot;:340,&quot;left&quot;:60,&quot;top&quot;:130,&quot;width&quot;:840}"/>
</p:tagLst>
</file>

<file path=ppt/tags/tag13.xml><?xml version="1.0" encoding="utf-8"?>
<p:tagLst xmlns:p="http://schemas.openxmlformats.org/presentationml/2006/main">
  <p:tag name="KSO_WM_DIAGRAM_VIRTUALLY_FRAME" val="{&quot;height&quot;:340,&quot;left&quot;:60,&quot;top&quot;:130,&quot;width&quot;:840}"/>
</p:tagLst>
</file>

<file path=ppt/tags/tag14.xml><?xml version="1.0" encoding="utf-8"?>
<p:tagLst xmlns:p="http://schemas.openxmlformats.org/presentationml/2006/main">
  <p:tag name="KSO_WM_DIAGRAM_VIRTUALLY_FRAME" val="{&quot;height&quot;:340,&quot;left&quot;:60,&quot;top&quot;:130,&quot;width&quot;:840}"/>
</p:tagLst>
</file>

<file path=ppt/tags/tag15.xml><?xml version="1.0" encoding="utf-8"?>
<p:tagLst xmlns:p="http://schemas.openxmlformats.org/presentationml/2006/main">
  <p:tag name="KSO_WM_DIAGRAM_VIRTUALLY_FRAME" val="{&quot;height&quot;:340,&quot;left&quot;:60,&quot;top&quot;:130,&quot;width&quot;:840}"/>
</p:tagLst>
</file>

<file path=ppt/tags/tag16.xml><?xml version="1.0" encoding="utf-8"?>
<p:tagLst xmlns:p="http://schemas.openxmlformats.org/presentationml/2006/main">
  <p:tag name="KSO_WM_DIAGRAM_VIRTUALLY_FRAME" val="{&quot;height&quot;:340,&quot;left&quot;:60,&quot;top&quot;:130,&quot;width&quot;:840}"/>
</p:tagLst>
</file>

<file path=ppt/tags/tag17.xml><?xml version="1.0" encoding="utf-8"?>
<p:tagLst xmlns:p="http://schemas.openxmlformats.org/presentationml/2006/main">
  <p:tag name="KSO_WM_DIAGRAM_VIRTUALLY_FRAME" val="{&quot;height&quot;:340,&quot;left&quot;:60,&quot;top&quot;:130,&quot;width&quot;:840}"/>
</p:tagLst>
</file>

<file path=ppt/tags/tag18.xml><?xml version="1.0" encoding="utf-8"?>
<p:tagLst xmlns:p="http://schemas.openxmlformats.org/presentationml/2006/main">
  <p:tag name="KSO_WM_DIAGRAM_VIRTUALLY_FRAME" val="{&quot;height&quot;:340,&quot;left&quot;:60,&quot;top&quot;:130,&quot;width&quot;:840}"/>
</p:tagLst>
</file>

<file path=ppt/tags/tag19.xml><?xml version="1.0" encoding="utf-8"?>
<p:tagLst xmlns:p="http://schemas.openxmlformats.org/presentationml/2006/main">
  <p:tag name="KSO_WM_DIAGRAM_VIRTUALLY_FRAME" val="{&quot;height&quot;:340,&quot;left&quot;:60,&quot;top&quot;:130,&quot;width&quot;:840}"/>
</p:tagLst>
</file>

<file path=ppt/tags/tag20.xml><?xml version="1.0" encoding="utf-8"?>
<p:tagLst xmlns:p="http://schemas.openxmlformats.org/presentationml/2006/main">
  <p:tag name="KSO_WM_DIAGRAM_VIRTUALLY_FRAME" val="{&quot;height&quot;:340,&quot;left&quot;:60,&quot;top&quot;:130,&quot;width&quot;:840}"/>
</p:tagLst>
</file>

<file path=ppt/tags/tag21.xml><?xml version="1.0" encoding="utf-8"?>
<p:tagLst xmlns:p="http://schemas.openxmlformats.org/presentationml/2006/main">
  <p:tag name="KSO_WM_DIAGRAM_VIRTUALLY_FRAME" val="{&quot;height&quot;:340,&quot;left&quot;:60,&quot;top&quot;:130,&quot;width&quot;:840}"/>
</p:tagLst>
</file>

<file path=ppt/tags/tag22.xml><?xml version="1.0" encoding="utf-8"?>
<p:tagLst xmlns:p="http://schemas.openxmlformats.org/presentationml/2006/main">
  <p:tag name="commondata" val="eyJoZGlkIjoiOTBlZGY2NTQwZmNiNjgxYzNmMDhjOGM1YjVjNDVmMWMifQ=="/>
</p:tagLst>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4205</Words>
  <Application>WPS 演示</Application>
  <PresentationFormat/>
  <Paragraphs>399</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13</vt:i4>
      </vt:variant>
    </vt:vector>
  </HeadingPairs>
  <TitlesOfParts>
    <vt:vector size="23" baseType="lpstr">
      <vt:lpstr>Arial</vt:lpstr>
      <vt:lpstr>宋体</vt:lpstr>
      <vt:lpstr>Wingdings</vt:lpstr>
      <vt:lpstr>Arial</vt:lpstr>
      <vt:lpstr>Noto Sans SC</vt:lpstr>
      <vt:lpstr>微软雅黑</vt:lpstr>
      <vt:lpstr>Arial Unicode MS</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沈浙涛</cp:lastModifiedBy>
  <cp:revision>11</cp:revision>
  <dcterms:created xsi:type="dcterms:W3CDTF">2026-04-18T09:15:00Z</dcterms:created>
  <dcterms:modified xsi:type="dcterms:W3CDTF">2026-05-23T11:11:14Z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C18FAFF93EB78320B94BE369D8C3CCD1_43</vt:lpwstr>
  </property>
  <property fmtid="{D5CDD505-2E9C-101B-9397-08002B2CF9AE}" pid="3" name="KSOProductBuildVer">
    <vt:lpwstr>2052-12.1.0.18608</vt:lpwstr>
  </property>
</Properties>
</file>